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9" r:id="rId4"/>
    <p:sldId id="290" r:id="rId5"/>
    <p:sldId id="259" r:id="rId6"/>
    <p:sldId id="298" r:id="rId7"/>
    <p:sldId id="301" r:id="rId8"/>
    <p:sldId id="299" r:id="rId9"/>
    <p:sldId id="300" r:id="rId10"/>
    <p:sldId id="302" r:id="rId11"/>
    <p:sldId id="261" r:id="rId12"/>
    <p:sldId id="277" r:id="rId13"/>
    <p:sldId id="262" r:id="rId14"/>
    <p:sldId id="279" r:id="rId15"/>
    <p:sldId id="276" r:id="rId16"/>
    <p:sldId id="288" r:id="rId17"/>
    <p:sldId id="292" r:id="rId18"/>
    <p:sldId id="293" r:id="rId19"/>
    <p:sldId id="294" r:id="rId20"/>
    <p:sldId id="295" r:id="rId21"/>
    <p:sldId id="296" r:id="rId22"/>
    <p:sldId id="297" r:id="rId23"/>
    <p:sldId id="280" r:id="rId24"/>
    <p:sldId id="283" r:id="rId25"/>
    <p:sldId id="281" r:id="rId26"/>
    <p:sldId id="282" r:id="rId27"/>
    <p:sldId id="265" r:id="rId28"/>
    <p:sldId id="263" r:id="rId29"/>
    <p:sldId id="264" r:id="rId30"/>
    <p:sldId id="266" r:id="rId31"/>
    <p:sldId id="284" r:id="rId32"/>
    <p:sldId id="303" r:id="rId33"/>
    <p:sldId id="304" r:id="rId34"/>
    <p:sldId id="305" r:id="rId35"/>
    <p:sldId id="306" r:id="rId36"/>
    <p:sldId id="307" r:id="rId37"/>
    <p:sldId id="308" r:id="rId38"/>
    <p:sldId id="267" r:id="rId39"/>
    <p:sldId id="269" r:id="rId40"/>
    <p:sldId id="314" r:id="rId41"/>
    <p:sldId id="312" r:id="rId42"/>
    <p:sldId id="268" r:id="rId43"/>
    <p:sldId id="311" r:id="rId44"/>
    <p:sldId id="310" r:id="rId45"/>
    <p:sldId id="309" r:id="rId46"/>
    <p:sldId id="313" r:id="rId47"/>
    <p:sldId id="270" r:id="rId48"/>
    <p:sldId id="273" r:id="rId49"/>
    <p:sldId id="271" r:id="rId50"/>
    <p:sldId id="315" r:id="rId51"/>
    <p:sldId id="316" r:id="rId52"/>
    <p:sldId id="317" r:id="rId53"/>
    <p:sldId id="272" r:id="rId54"/>
    <p:sldId id="274" r:id="rId55"/>
    <p:sldId id="275" r:id="rId56"/>
    <p:sldId id="286" r:id="rId57"/>
    <p:sldId id="287" r:id="rId58"/>
    <p:sldId id="278" r:id="rId5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3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24575,'165'-1'0,"184"3"0,-86 14 0,88 3 0,-138-10 0,-10 0 0,775-10-1365,-962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32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21389,'2522'0'0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34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90 24575,'18'-1'0,"0"-1"0,0-1 0,33-9 0,23-4 0,542-33 0,-584 47 0,483-3 0,-297 7 0,1049-2-1365,-1252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39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24575,'1103'0'0,"-829"9"0,24 1 0,88 1 0,-275-6 0,21 3 0,89 2 0,-28-10-1365,-178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42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24575,'0'2'0,"1"0"0,0-1 0,-1 1 0,1 0 0,0-1 0,0 1 0,0 0 0,0-1 0,0 1 0,0-1 0,0 0 0,0 1 0,1-1 0,-1 0 0,1 0 0,-1 0 0,1 1 0,-1-2 0,1 1 0,0 0 0,-1 0 0,1 0 0,0-1 0,-1 1 0,4 0 0,50 11 0,-50-11 0,462 58 0,-421-54 0,330 21 0,-97-9 0,173-9 0,-277-10 0,264 2-1365,-424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0:23:45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24575,'191'-1'0,"211"3"0,-236 6 0,51 2 0,1207-11-1365,-1409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5:30.8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0 505 24575,'3'4'0,"0"-1"0,-1 1 0,0 0 0,0 0 0,0 0 0,2 6 0,7 14 0,59 113 0,-69-136 0,0 1 0,0-1 0,0 1 0,1-1 0,-1 0 0,1 0 0,-1 0 0,1 1 0,-1-2 0,1 1 0,0 0 0,0 0 0,-1 0 0,1-1 0,0 1 0,0-1 0,0 1 0,-1-1 0,1 0 0,0 0 0,0 0 0,0 0 0,0 0 0,0 0 0,0-1 0,-1 1 0,3-1 0,7-2 0,0 0 0,-1 0 0,15-8 0,-21 9 0,29-14-91,-1-2 0,47-32 0,54-54-210,-123 97 299,98-86 194,-3-5 0,123-146 0,-200 209-1557,-8 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5:40.6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0 370 24575,'53'125'0,"-40"-88"0,-12-35 0,-1-1 0,1 1 0,0-1 0,-1 0 0,1 1 0,0-1 0,0 1 0,0-1 0,0 0 0,0 0 0,0 0 0,0 1 0,1-1 0,-1 0 0,0-1 0,1 1 0,-1 0 0,0 0 0,1 0 0,2 0 0,-2 0 0,1-1 0,-1 0 0,0 0 0,1 0 0,-1 0 0,0 0 0,1-1 0,-1 1 0,0-1 0,1 1 0,-1-1 0,4-2 0,6-3 0,0-1 0,-1 0 0,0-1 0,11-10 0,-16 13 0,244-237 0,-229 221 0,140-159-462,-135 151-441,-1 0-5923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5:43.0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0 131 24575,'4'102'0,"4"0"0,35 172 0,-43-273 0,0 0 0,1 0 0,-1 0 0,0 0 0,0 0 0,1 0 0,-1 0 0,1 0 0,-1 0 0,1 0 0,-1-1 0,1 1 0,-1 0 0,1 0 0,0 0 0,-1-1 0,1 1 0,0 0 0,0-1 0,0 1 0,0 0 0,-1-1 0,3 1 0,-2-1 0,1 1 0,-1-1 0,1 0 0,-1 0 0,1 0 0,-1 0 0,1-1 0,-1 1 0,1 0 0,-1-1 0,1 1 0,-1-1 0,1 1 0,1-2 0,7-4 0,0 0 0,-1-1 0,14-12 0,-15 12 0,92-81 0,-4-5 0,-4-4 0,125-171 0,-204 248-1365,-4 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0:52:57.4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1 294 24575,'1'11'0,"0"-1"0,1 1 0,0 0 0,6 13 0,-1 2 0,10 35 0,-6-23 0,8 44 0,-19-79 0,0 0 0,1 0 0,-1 0 0,1-1 0,0 1 0,0 0 0,0 0 0,0-1 0,0 1 0,0-1 0,3 4 0,-4-6 0,0 0 0,1 1 0,-1-1 0,1 0 0,-1 0 0,1 1 0,-1-1 0,0 0 0,1 0 0,-1 0 0,1 0 0,-1 0 0,1 0 0,-1 0 0,1 1 0,-1-1 0,1 0 0,-1-1 0,0 1 0,1 0 0,-1 0 0,1 0 0,-1 0 0,1 0 0,0-1 0,17-14 0,-3-3 0,-1 0 0,-1-2 0,-1 1 0,18-42 0,29-95 0,-15 36 0,-23 72-27,20-56-1311,-33 78-5488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43.6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197 0 24575,'1'111'0,"-3"123"0,-17-48 0,14-120 0,-9 187 0,15-42 0,-2 188 0,-19-89 0,12-186 0,-4 130 0,2 160 0,3-50 0,-2 36 0,-35 47 0,36-264 0,2-27 0,-9 152 0,5-63 0,2 356 0,9-372 0,-1 1321 0,4-1493 0,2 0 0,3-1 0,16 60 0,-11-53 0,-5-17 0,-2 1 0,0 50 0,-8 96 0,-1-77 0,2-97-1365,0-2-5461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45.2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 24575,'1'18'0,"1"1"0,7 31 0,-3-23 0,-5-23 0,-1 1 0,1-1 0,0 0 0,1 1 0,-1-1 0,1 0 0,0 0 0,0 0 0,4 6 0,-5-9 0,1 0 0,-1 0 0,0 0 0,1 0 0,-1 0 0,1 0 0,-1-1 0,1 1 0,0 0 0,-1-1 0,1 1 0,0-1 0,-1 0 0,1 1 0,0-1 0,-1 0 0,1 0 0,0 0 0,0 0 0,-1-1 0,1 1 0,0 0 0,-1-1 0,1 1 0,0-1 0,2-1 0,14-4 0,0-1 0,0-1 0,0-1 0,-1-1 0,-1 0 0,0-1 0,0 0 0,27-28 0,3 1 134,-8 9-1633,-26 18-5327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48.6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24575,'4'2'0,"1"1"0,0 0 0,-1 0 0,1 0 0,-1 0 0,0 0 0,0 1 0,0 0 0,6 8 0,-1-2 0,12 12 0,-2 1 0,0 1 0,31 51 0,-45-65 0,0 0 0,-1-1 0,0 1 0,-1 1 0,0-1 0,-1 0 0,0 1 0,0-1 0,-1 1 0,0 0 0,-1-1 0,0 1 0,-1 0 0,0 0 0,-3 10 0,-6 10 0,-1-1 0,-1-1 0,-25 45 0,-14 32 0,50-105 0,0 1 0,1-1 0,-1 1 0,1 0 0,-1-1 0,1 1 0,0 0 0,0-1 0,0 1 0,-1 0 0,2-1 0,-1 1 0,0 0 0,0 0 0,0-1 0,1 1 0,-1 0 0,1-1 0,-1 1 0,1-1 0,0 1 0,0-1 0,0 1 0,0-1 0,0 1 0,0-1 0,0 0 0,0 0 0,0 1 0,0-1 0,1 0 0,-1 0 0,1 0 0,-1 0 0,1-1 0,-1 1 0,1 0 0,2 0 0,6 3 0,1-1 0,0 0 0,0-1 0,19 2 0,-24-3 0,134 5-1365,-114-6-5461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49.4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24575,'7'0'0,"12"0"0,9 0 0,6 0 0,1 0 0,-2 0 0,-3 0 0,-1 0 0,-1 0 0,0 0 0,0 3 0,-3 2 0,-1-1 0,-6-1-8191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49.9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60 24575,'3'0'0,"5"-3"0,7-5 0,5-4 0,1 0 0,-1-1 0,-6 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50.7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100 306 24575,'4'-2'0,"0"0"0,-1 0 0,0 0 0,1-1 0,-1 1 0,0-1 0,0 0 0,0 0 0,-1 0 0,3-3 0,1-1 0,-1-1 0,-1 0 0,1 0 0,-1 0 0,-1 0 0,4-12 0,12-54 0,-18 68 0,2-7 0,-1 0 0,0 0 0,-1 0 0,-1 0 0,-2-21 0,2 33 0,0 0 0,0 0 0,0-1 0,0 1 0,0 0 0,0 0 0,-1 0 0,1 0 0,-1 0 0,1-1 0,-1 1 0,1 0 0,-1 0 0,1 0 0,-1 0 0,0 0 0,0 1 0,1-1 0,-1 0 0,0 0 0,0 0 0,0 1 0,0-1 0,0 0 0,0 1 0,0-1 0,0 1 0,0-1 0,0 1 0,-1 0 0,1-1 0,0 1 0,0 0 0,0 0 0,0 0 0,-1 0 0,1 0 0,0 0 0,0 0 0,0 0 0,-1 0 0,1 0 0,0 1 0,0-1 0,0 1 0,-2 0 0,-4 2 0,1 0 0,0 0 0,0 0 0,0 1 0,0 0 0,-8 7 0,4-1 0,1 1 0,0-1 0,0 1 0,1 1 0,1-1 0,0 2 0,0-1 0,2 1 0,-1-1 0,1 2 0,1-1 0,1 0 0,-4 24 0,1 13 0,3 0 0,4 73 0,0-76 0,-1-42 0,0-1 0,0 0 0,0 0 0,1 0 0,0 1 0,0-1 0,0 0 0,0 0 0,0 0 0,1 0 0,0 0 0,0-1 0,0 1 0,0 0 0,1-1 0,-1 1 0,1-1 0,0 0 0,0 0 0,0 0 0,0 0 0,1-1 0,-1 1 0,8 3 0,5 4 0,0-2 0,0 0 0,1 0 0,0-1 0,0-2 0,0 1 0,1-2 0,0 0 0,0-2 0,31 2 0,-15-11-1365,-22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51.3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0 24575,'0'17'0,"-3"15"0,-1 8 0,0 8 0,1-1 0,0-2 0,2-5 0,0-4 0,1-3 0,0-5 0,0-7-8191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51.7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52.5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 1 24575,'-10'278'0,"0"-27"0,8-155 0,5 173 0,-3-266-62,0 0 0,0 1 0,0-1 0,1 0 0,-1 0 0,1 1 0,0-1 0,0 0 0,0 0 0,0 0 0,1 0 0,-1 0-1,1 0 1,0 0 0,0 0 0,0-1 0,0 1 0,0-1 0,1 1 0,-1-1 0,5 3 0,9 3-6764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17:53.3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24575,'3'0'0,"15"0"0,7 0 0,6 0 0,1 0 0,2 0 0,-2 0 0,-6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26:0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24575,'2'4'0,"-1"-1"0,1-1 0,-1 1 0,1 0 0,0 0 0,0-1 0,1 1 0,-1-1 0,1 1 0,4 2 0,-3 0 0,17 16 0,26 37 0,-35-44 0,1 0 0,21 17 0,11 11 0,18 17 0,-43-41 0,0 0 0,19 23 0,-20-19 0,23 19 0,18 21 0,57 66 0,-54-67-1365,-49-48-5461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26:0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1039 24575,'27'-32'0,"-20"23"0,0 0 0,1 1 0,0 0 0,0 0 0,12-8 0,-14 11 0,0 0 0,0 0 0,0 0 0,-1-1 0,0 0 0,9-12 0,22-46 0,-8 15 0,-11 26 0,0 1 0,1 1 0,24-21 0,3-4 0,-4 9 0,-31 27 0,1 1 0,-1-1 0,17-22 0,61-80 0,-46 54 0,51-77 0,-73 105 0,31-34 0,-30 38 0,32-48 0,-41 54-1365,-3 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26:0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24575,'64'56'0,"4"5"0,-14-13 0,-41-39 0,0 2 0,-1 0 0,-1 0 0,18 23 0,-23-26 0,1-1 0,0 1 0,14 11 0,-14-13 0,0 0 0,-1 1 0,1 0 0,9 13 0,19 47 0,-29-53 0,1 0 0,0-1 0,1 0 0,0 0 0,1 0 0,19 20 0,-16-21-1365,-3-3-5461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2:51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24575,'0'1233'0,"0"-1228"0,0 0 0,0 0 0,0 0 0,1 0 0,0-1 0,2 8 0,-3-10 0,1-1 0,0 1 0,0 0 0,0-1 0,0 1 0,1-1 0,-1 1 0,0-1 0,1 0 0,-1 1 0,0-1 0,1 0 0,0 0 0,-1 0 0,1 0 0,0 0 0,-1 0 0,1-1 0,3 2 0,9 1 0,0 0 0,1 0 0,-1-2 0,21 1 0,63-6 0,-41 0 0,916-2 0,-578 8 0,-25-2 0,-365 0 0,-1 0 0,1-1 0,0 1 0,0-1 0,0 0 0,-1 0 0,1 0 0,-1 0 0,1-1 0,6-3 0,-8 3 0,-1 0 0,1 0 0,-1 0 0,0 0 0,1-1 0,-1 1 0,0-1 0,0 0 0,-1 1 0,1-1 0,0 0 0,-1 0 0,0 0 0,0 0 0,0 0 0,2-6 0,2-25 0,-1 0 0,-2-1 0,-1 1 0,-6-54 0,1 9 0,4-158 0,-2-60 0,-17 105 0,1 11 0,18 172 0,0 2 0,-1 0 0,1-1 0,-1 1 0,-1 0 0,-2-10 0,3 16 0,1-1 0,-1 0 0,0 1 0,0-1 0,0 1 0,0-1 0,0 1 0,0-1 0,-1 1 0,1 0 0,0 0 0,-1-1 0,1 1 0,-1 0 0,1 0 0,-1 0 0,1 1 0,-1-1 0,0 0 0,1 1 0,-1-1 0,0 1 0,0-1 0,0 1 0,1 0 0,-4 0 0,-12 0 0,0 2 0,0 0 0,0 1 0,-23 7 0,10-3 0,-68 14 0,0-5 0,-1-4 0,-109-1 0,7-2 0,7 0 0,-721-9-1365,897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2:5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71 24575,'1'123'0,"-13"329"0,3-10 0,11-271 0,-3-168 0,1 0 0,0 0 0,0 0 0,1 0 0,-1 0 0,0 0 0,1 0 0,0 0 0,0 0 0,0 0 0,0-1 0,0 1 0,2 3 0,0-4 0,-1 0 0,0 0 0,1 0 0,-1-1 0,1 1 0,0-1 0,-1 1 0,1-1 0,0 0 0,0 0 0,0 0 0,0-1 0,6 2 0,50 6 0,2-3 0,111-5 0,-95-1 0,182 0 0,182-2 0,2-35 0,-41 1 0,364-16 0,-639 47 0,-38 3 0,-87 3 0,-1 0 0,0 0 0,1-1 0,-1 1 0,0 0 0,0 0 0,1-1 0,-1 1 0,0-1 0,0 1 0,0-1 0,0 1 0,1-1 0,-1 0 0,0 0 0,0 1 0,0-1 0,-1 0 0,1 0 0,0 0 0,0 0 0,0 0 0,-1 0 0,1 0 0,0 0 0,-1-1 0,1 1 0,-1 0 0,1 0 0,-1-1 0,1-1 0,-1-4 0,1 0 0,-1 0 0,0 0 0,-1 0 0,-1-8 0,-1-7 0,-7-429 0,9 418 0,-3 0 0,-9-47 0,-3-21 0,10 14 0,6 54 0,-2-1 0,-2 1 0,-1 0 0,-14-50 0,17 78 0,-1-1 0,1 1 0,-1 0 0,1 0 0,-2 0 0,1 1 0,0-1 0,-1 1 0,0-1 0,0 1 0,0 0 0,-1 1 0,1-1 0,-1 1 0,0 0 0,0 0 0,0 0 0,0 1 0,0-1 0,-1 1 0,1 1 0,-12-3 0,-6 1 0,0 1 0,-1 0 0,1 2 0,-33 4 0,17-1 0,-700 4 0,450-8 0,-1073 1 0,1345 0 68,0 2 0,1 0 0,-1 1 0,-24 7 0,-61 27-1481,95-34 1121,-17 6-6534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0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24575,'0'10'0,"0"9"0,0 13 0,0 6 0,0 7 0,0 2 0,0 0 0,0-1 0,0-6 0,0-6 0,0-8-8191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0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24575,'0'3'0,"0"8"0,0 12 0,0 8 0,0 6 0,0 7 0,0 2 0,0 3 0,0 0 0,0-2 0,0 1 0,0-1 0,0-1 0,0-3 0,0-5 0,0-6 0,0-8-8191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06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24575,'0'10'0,"0"10"0,0 4 0,0 2 0,0 0 0,0 2 0,0 2 0,0 14 0,0 8 0,0 6 0,0 2 0,0-1 0,0-9 0,0-9 0,0-11-8191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0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24575,'-14'206'0,"13"-193"0,-16 202 0,11-164-1365,5-32-5461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04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24575,'-4'6'0,"0"13"0,0 22 0,1 11 0,1 7 0,0 3 0,1 4 0,1-2 0,0-10 0,0-9 0,0-14-8191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1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24575,'15'-1'0,"1"-1"0,-1 0 0,0-1 0,23-8 0,-20 5 0,0 1 0,30-3 0,196 5 0,-130 5 0,3775-2 0,-3708 10 0,2 0 0,609-11 0,-709 5-1365,-49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19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17 24575,'0'0'0,"0"-1"0,0 0 0,1 1 0,-1-1 0,1 0 0,-1 1 0,1-1 0,-1 1 0,1-1 0,-1 1 0,1-1 0,-1 1 0,1-1 0,-1 1 0,1 0 0,0-1 0,-1 1 0,1 0 0,0 0 0,-1-1 0,1 1 0,0 0 0,-1 0 0,1 0 0,1 0 0,22-4 0,-21 4 0,10-2 0,-1 2 0,1-1 0,0 2 0,0 0 0,-1 0 0,1 1 0,-1 0 0,1 2 0,-1-1 0,0 1 0,0 1 0,0 0 0,10 7 0,-17-8 0,-1-1 0,0 1 0,-1 0 0,1 0 0,-1 0 0,1 1 0,-1-1 0,4 10 0,12 15 0,-18-28 0,0 0 0,-1 0 0,1 0 0,0 0 0,-1 0 0,1 1 0,-1-1 0,1 0 0,-1 0 0,1 1 0,-1-1 0,0 0 0,0 1 0,0-1 0,0 0 0,0 1 0,0-1 0,0 0 0,0 0 0,0 2 0,-1 0 0,0 0 0,-1 0 0,1-1 0,0 1 0,-1 0 0,1-1 0,-1 1 0,-3 3 0,-4 4 0,-1-1 0,0 0 0,-13 8 0,17-13 0,-173 114 0,113-75 277,45-31-688,0 1 1,1 1-1,-29 27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1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24575,'0'3'0,"0"15"0,-4 10 0,0 4 0,0 0 0,0-2 0,2-4 0,0 2 0,1-2 0,1-5-8191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24575,'0'6'0,"0"10"0,0 11 0,0 8 0,0 8 0,0 3 0,0 0 0,0-1 0,0-4 0,0-1 0,0 1 0,0-4 0,0-8-8191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24575,'0'10'0,"0"13"0,0 10 0,0 5 0,0 3 0,0 1 0,0-3 0,0-5 0,0-6 0,0-3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24575,'0'3'0,"0"8"0,0 5 0,0 10 0,0 1-8191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6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0 24575,'-3'0'0,"0"1"0,0-1 0,0 1 0,1-1 0,-1 1 0,0 0 0,0 0 0,1 0 0,-1 0 0,0 1 0,1-1 0,0 1 0,-3 2 0,-29 28 0,7-4 0,-5-5 0,-17 12 0,46-31 0,-1-1 0,0 1 0,1-1 0,0 1 0,0 0 0,0 0 0,0 0 0,1 1 0,-3 4 0,5-6 0,-1 0 0,1 0 0,0 0 0,-1-1 0,1 1 0,1 0 0,-1 0 0,0 0 0,1 0 0,0 0 0,-1-1 0,1 1 0,0 0 0,0-1 0,1 1 0,-1-1 0,0 1 0,1-1 0,2 3 0,5 8 0,1 0 0,14 12 0,-17-17 0,125 112-1025,-126-115 685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24575,'-1'1'0,"1"-1"0,-1 0 0,0 0 0,0 1 0,0-1 0,1 1 0,-1-1 0,0 1 0,1-1 0,-1 1 0,0-1 0,1 1 0,-1 0 0,0-1 0,1 1 0,-1 0 0,1-1 0,-1 1 0,1 0 0,0 0 0,-1-1 0,1 1 0,-1 2 0,-6 23 0,6-22 0,-12 65 0,10-52 0,3-17 0,0 0 0,0 0 0,0 0 0,1-5 0,0 0 0,0 0 0,1 0 0,-1 0 0,1 0 0,1 0 0,-1 1 0,1-1 0,-1 1 0,7-8 0,-8 11 0,0 0 0,-1 0 0,1 0 0,0 1 0,0-1 0,0 0 0,0 0 0,0 1 0,1-1 0,-1 1 0,0-1 0,0 1 0,0-1 0,0 1 0,1 0 0,-1 0 0,0-1 0,0 1 0,3 0 0,-3 1 0,1-1 0,-1 1 0,1-1 0,-1 1 0,1 0 0,-1 0 0,1 0 0,-1 0 0,0 0 0,1 0 0,-1 0 0,0 0 0,0 1 0,0-1 0,0 0 0,0 1 0,0-1 0,0 0 0,0 3 0,4 5 41,-2 0-1,1 0 0,-1 1 0,0-1 1,-1 1-1,0 0 0,0 16 0,-1 74-785,-1-69-197,-1 9-5884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9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24575,'667'0'-1365,"-642"0"-5461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1 393 24575,'25'-1'0,"1"-1"0,-1-2 0,1-1 0,-1 0 0,0-2 0,-1-1 0,0-1 0,27-14 0,3-5 0,-1-3 0,60-46 0,-99 66 0,11-6 0,-1-2 0,-1 0 0,33-36 0,-54 53 0,0 0 0,0-1 0,0 1 0,-1 0 0,1-1 0,-1 1 0,0-1 0,0 0 0,0 1 0,0-1 0,0 0 0,0 0 0,-1 0 0,1 1 0,-1-1 0,0-3 0,0 5 0,0 0 0,0 0 0,-1 0 0,1 0 0,0 0 0,-1 0 0,1 0 0,-1 0 0,1 0 0,-1 0 0,1 0 0,-1 0 0,0 1 0,1-1 0,-1 0 0,0 1 0,0-1 0,-1 0 0,0 0 0,0 0 0,0 0 0,0 0 0,0 0 0,0 0 0,-1 1 0,1 0 0,0-1 0,0 1 0,-5 0 0,0 1 0,0-1 0,0 2 0,0-1 0,0 1 0,0 0 0,1 0 0,-1 1 0,1 0 0,-1 0 0,1 1 0,0-1 0,-8 8 0,-3 3 0,1 0 0,-25 30 0,28-29 0,2 1 0,0 0 0,1 1 0,0 0 0,2 0 0,0 1 0,1 0 0,0 1 0,2 0 0,0 0 0,1 0 0,1 0 0,1 0 0,1 1 0,0-1 0,2 1 0,0-1 0,4 23 0,-4-39 0,1 0 0,-1 1 0,1-1 0,-1 0 0,1 0 0,0 0 0,0 0 0,0 0 0,1-1 0,-1 1 0,1-1 0,-1 1 0,1-1 0,0 0 0,0 0 0,0 0 0,0-1 0,0 1 0,0 0 0,1-1 0,5 2 0,5 1 0,-1 0 0,1-1 0,-1-1 0,18 1 0,99-2 13,-85-1-1391,-24-1-5448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178 172 24575,'-7'0'0,"-1"0"0,0 1 0,1 0 0,-1 0 0,1 1 0,0-1 0,-1 2 0,-10 4 0,12-4 0,1 0 0,1 0 0,-1 0 0,0 1 0,1 0 0,0 0 0,0 0 0,0 1 0,0-1 0,0 1 0,-4 9 0,1-1 0,1 0 0,0 0 0,1 1 0,0 0 0,1 0 0,1 1 0,0-1 0,1 1 0,1-1 0,0 1 0,1 0 0,3 27 0,-2-39 0,-1 0 0,1-1 0,-1 1 0,1-1 0,0 0 0,0 1 0,0-1 0,0 0 0,1 0 0,-1 1 0,1-1 0,-1 0 0,1 0 0,0 0 0,-1-1 0,1 1 0,0 0 0,0-1 0,0 1 0,1-1 0,-1 0 0,0 0 0,0 0 0,1 0 0,-1 0 0,1 0 0,-1 0 0,1-1 0,-1 1 0,1-1 0,-1 0 0,1 0 0,-1 0 0,1 0 0,0 0 0,-1-1 0,5 0 0,0-1 0,1 0 0,-1 0 0,0-1 0,0 0 0,0 0 0,0 0 0,0-1 0,-1 0 0,1-1 0,-1 1 0,8-10 0,-4 3 0,-2 0 0,0-1 0,0 0 0,-1-1 0,0 0 0,-1 0 0,-1 0 0,0-1 0,-1 0 0,4-21 0,-1-8 0,-2-1 0,0-49 0,-9-21 0,10 160 0,1 0 0,25 80 0,-10-42 0,-16-60-1365,-3-5-5461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1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24575,'0'1'0,"-1"-1"0,0 0 0,1 0 0,-1 1 0,1-1 0,-1 1 0,0-1 0,1 0 0,-1 1 0,1-1 0,-1 1 0,1-1 0,-1 1 0,1 0 0,0-1 0,-1 1 0,1-1 0,0 1 0,-1 0 0,1-1 0,0 1 0,0 0 0,0-1 0,-1 1 0,1 1 0,-4 21 0,-1 40 0,4 67 0,2-60 0,0 804 0,-1-872 8,-1 4-161,1-1 1,0 1-1,1-1 1,-1 0-1,1 1 0,0-1 1,1 0-1,1 6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24575,'4'0'0,"6"0"0,7 0 0,2 0 0,2 0 0,0 0 0,1 0 0,-1 0 0,-1 0 0,0 0 0,4 0 0,3 0 0,7 0 0,2 0 0,-3 0 0,-6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1 373 24575,'11'0'0,"0"-1"0,1-1 0,-1 0 0,0-1 0,0 0 0,13-6 0,64-32 0,-63 29 0,-14 7 0,0-1 0,-1 0 0,0-1 0,0 0 0,0 0 0,-1-1 0,0 0 0,-1-1 0,0 0 0,0 0 0,-1-1 0,0 0 0,0 0 0,-2-1 0,1 0 0,-1 0 0,-1 0 0,1 0 0,3-20 0,-8 28 0,3-5 0,-2 0 0,1 0 0,-1 0 0,0-16 0,-1 23 0,0-1 0,0 0 0,-1 0 0,1 1 0,0-1 0,-1 0 0,1 1 0,-1-1 0,0 0 0,1 1 0,-1-1 0,0 1 0,0-1 0,0 1 0,0-1 0,-1 1 0,1 0 0,0-1 0,0 1 0,-1 0 0,1 0 0,-1 0 0,1 0 0,-1 0 0,1 1 0,-1-1 0,0 0 0,-2 0 0,-2-1 0,0 1 0,-1 0 0,1 1 0,0-1 0,-1 1 0,1 1 0,0-1 0,0 1 0,-1 0 0,1 0 0,0 1 0,0 0 0,0 0 0,0 0 0,0 1 0,1-1 0,-1 2 0,1-1 0,0 0 0,0 1 0,0 0 0,-5 6 0,-3 2 0,1 1 0,1 1 0,0 0 0,1 1 0,0 0 0,-12 26 0,5-5 0,2 0 0,-16 60 0,26-77 0,1-1 0,1 1 0,1 0 0,0 0 0,2 0 0,0 0 0,4 29 0,-3-46 0,0 1 0,0-1 0,0 1 0,0-1 0,0 1 0,0-1 0,0 1 0,1-1 0,-1 0 0,1 0 0,0 0 0,0 0 0,0 0 0,0 0 0,0-1 0,0 1 0,0 0 0,0-1 0,1 0 0,-1 1 0,0-1 0,1 0 0,-1 0 0,1-1 0,0 1 0,3 0 0,8 1 0,0 0 0,1-1 0,24-1 0,-23-1 0,7 1-1365,-3-1-5461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0 612 24575,'37'-34'0,"12"-12"0,-10-2 0,-2-3 0,38-67 0,-39 62 0,-17 29 0,21-45 0,-23 33 0,-10 23 0,0 0 0,1 0 0,0 1 0,1 0 0,12-14 0,-21 28 0,1 0 0,0 0 0,0 0 0,0 0 0,0 0 0,0 0 0,0 0 0,0 1 0,0-1 0,0 0 0,0 1 0,0-1 0,0 1 0,0-1 0,1 1 0,-1 0 0,0-1 0,2 1 0,-2 0 0,0 0 0,0 0 0,0 1 0,0-1 0,-1 0 0,1 1 0,0-1 0,0 1 0,0-1 0,-1 1 0,1-1 0,0 1 0,0-1 0,-1 1 0,1 0 0,-1-1 0,1 1 0,0 0 0,0 1 0,2 5 0,1 0 0,-1 0 0,-1 0 0,4 15 0,-4-16 0,14 71 0,11 113 0,0 13 0,-23-181-1365,-1-5-5461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3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24575,'691'0'-1365,"-651"0"-5461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41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24575,'-15'40'0,"10"-4"0,2 1 0,2 0 0,3 40 0,0-5 0,-2 322-1365,0-366-5461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42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24575,'30'-16'0,"-4"2"0,53-21 0,-70 32 0,0 1 0,0 0 0,0 0 0,1 1 0,-1 0 0,0 0 0,1 1 0,-1 0 0,0 1 0,14 2 0,245 73 0,-259-73 0,-1 0 0,0 0 0,1 1 0,-1 0 0,9 7 0,-16-10 0,1 0 0,0 0 0,0 1 0,0-1 0,-1 1 0,1-1 0,-1 1 0,1 0 0,-1 0 0,0 0 0,0 0 0,0 0 0,0 0 0,0 0 0,0 0 0,0 0 0,-1 0 0,1 0 0,-1 0 0,0 1 0,1-1 0,-1 0 0,0 0 0,0 1 0,0-1 0,-1 3 0,-2 3 0,1 0 0,-1-1 0,0 1 0,-1-1 0,0 0 0,0 0 0,0 0 0,-1-1 0,0 0 0,0 1 0,-1-2 0,0 1 0,0-1 0,0 0 0,-1 0 0,1 0 0,-1-1 0,-12 5 0,-11 4 0,0-1 0,-1-1 0,-42 7 0,27-6 0,-47 6 0,119-19 0,-9 0 0,-1 1 0,0 0 0,30 5 0,-41-4 0,0 0 0,0 1 0,0 0 0,0 0 0,0 0 0,0 0 0,-1 1 0,1 0 0,-1 0 0,0 0 0,0 0 0,0 1 0,0 0 0,0 0 0,-1 0 0,3 4 0,1 2 0,0 0 0,0 1 0,-2-1 0,1 1 0,-1 0 0,-1 1 0,0-1 0,-1 1 0,0 0 0,0 0 0,-1 0 0,-1 0 0,0 21 0,-2-29 0,0-1 0,0 1 0,-1-1 0,1 1 0,-1-1 0,0 1 0,0-1 0,0 0 0,0 0 0,0 0 0,-1 0 0,1 0 0,-1-1 0,0 1 0,0-1 0,0 0 0,0 0 0,0 0 0,-1 0 0,1 0 0,-5 1 0,-7 3 0,1-1 0,0 0 0,-30 5 0,8-5-29,-2-2 1,-57-3-1,47-1-1250,27 1-5547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24575,'0'3'0,"0"12"0,0 8 0,0 12 0,0 6 0,0-1 0,0-4 0,0-5 0,0-7-8191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21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24575,'0'7'0,"0"5"0,0 4 0,0 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53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1 717 24575,'29'-26'0,"1"1"0,50-33 0,74-32 0,-43 26 0,81-63 0,11-7 0,-89 69 295,67-43-1955,-153 88-5166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09:43:5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24575,'120'184'0,"106"158"0,118 139 0,-201-297 0,-9 18 51,-88-127-1467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9:22:26.524"/>
    </inkml:context>
    <inkml:brush xml:id="br0">
      <inkml:brushProperty name="width" value="0.035" units="cm"/>
      <inkml:brushProperty name="height" value="0.035" units="cm"/>
      <inkml:brushProperty name="color" value="#0000FF"/>
    </inkml:brush>
  </inkml:definitions>
  <inkml:trace contextRef="#ctx0" brushRef="#br0">1 1 24575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9:22:27.275"/>
    </inkml:context>
    <inkml:brush xml:id="br0">
      <inkml:brushProperty name="width" value="0.035" units="cm"/>
      <inkml:brushProperty name="height" value="0.035" units="cm"/>
      <inkml:brushProperty name="color" value="#0000FF"/>
    </inkml:brush>
  </inkml:definitions>
  <inkml:trace contextRef="#ctx0" brushRef="#br0">1 1178 24575,'27'-26'0,"35"-24"0,-7 8 0,601-463 0,-618 480 0,421-261 0,-393 251 0,1 3 0,2 2 0,2 4 0,0 4 0,87-18 0,6 16 100,24-4-1565,-158 21-5361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9:33:58.2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3341 1164 24575,'-82'-96'0,"32"34"0,-375-389 0,311 343 0,29 26 0,-138-103 0,194 164 0,-1 2 0,-1 1 0,-1 1 0,0 1 0,-1 2 0,-1 2 0,0 1 0,-1 1 0,-43-6 0,-74 0 0,-1 6 0,-206 14 0,308 2 0,0 2 0,1 2 0,-66 24 0,-3 0 0,-32 4 0,-211 56 0,9 21 0,306-96-1365,17-4-5461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9:34:43.0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6005 1 24575,'-1'24'0,"-8"43"0,4-41 0,0 32 0,3-42 0,0 1 0,-1-1 0,-1 0 0,-8 23 0,-3 14 0,13-45 0,-1 0 0,0 0 0,-1 0 0,0-1 0,0 1 0,0-1 0,-11 13 0,-44 43 0,51-54 0,-27 22 0,-60 42 0,22-19 0,10-1 0,-42 31 0,93-75 0,0-1 0,-1 0 0,0-1 0,0 0 0,0-1 0,-1-1 0,-16 4 0,-104 34 0,93-28 0,0-2 0,-44 8 0,-4-8 0,-105 1 0,-90-14 0,124-2 0,143 2 0,-91 1 0,-196-25 0,99-17 0,-37-7 0,119 26 0,-147-45 0,214 53 0,-78-9 0,-28-5 0,-360-66 0,-5 45 0,523 48 0,-491-42 0,245 18 0,22 2 0,-307 0 0,507 23-455,1-2 0,-38-7 0,45 6-6371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0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24575,'327'9'0,"-103"-6"-79,-149-3-1207,-65 0-5540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1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24575,'1'1'0,"1"2"0,1 0 0,3 3 0,2 1 0,2 1 0,1 0 0,-1 0 0,-1 0 0,0 0 0,0 0 0,-1-2 0,-1-1 0,0-1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11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24575,'-5'1'0,"0"0"0,0 0 0,0 1 0,1 0 0,-1 0 0,1 0 0,-1 0 0,1 1 0,0-1 0,-5 5 0,-21 10 0,20-12 30,1 0 0,-1 1 0,-12 10-1,-10 5-1513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24575,'-2'4'0,"7"4"0,5 5 0,14 9 66,29 20-1,15 14-1561,-62-50-5330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1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0 24575,'-2'1'0,"0"-1"0,0 1 0,0 0 0,0-1 0,0 1 0,0 0 0,0 0 0,0 0 0,1 0 0,-1 0 0,0 1 0,1-1 0,-2 2 0,-23 25 0,19-20 0,-80 72-222,64-60-921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2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24575,'-1'77'0,"2"82"0,5-101-1365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26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24575,'0'1'0,"0"2"0,-1 3 0,-1 1 0,1 1 0,0-1 0,0 2 0,1-1 0,-1 0 0,1 1 0,0 0 0,0 0 0,0-1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2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24575,'-2'0'0,"1"0"0,-1 1 0,1-1 0,0 0 0,-1 1 0,1 0 0,0-1 0,0 1 0,-1 0 0,1-1 0,0 1 0,0 0 0,0 0 0,0 0 0,0 0 0,0 0 0,0 0 0,0 0 0,1 1 0,-1-1 0,0 0 0,1 0 0,-1 1 0,0-1 0,0 2 0,-9 36 0,10-36 0,-5 24-65,4-14-260,-1 0 0,-1-1 0,-8 23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27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24575,'-1'1'0,"-1"0"0,-2 1 0,0 3 0,-2 0 0,0 5 0,-2 1 0,2 1 0,1-1 0,1-3 0,1-1 0,0-1 0,1-1 0,1-4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6:59:28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24575,'-1'2'0,"-1"5"0,-2 3 0,-1 2 0,1-1 0,-1 1 0,2-1 0,-1-3 0,1-1 0,1-1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28446-9B89-25C2-E8E4-9F4ED316A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6BBE38-E1DE-D3FA-3462-EDE266B23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2E392B-BB7C-7B77-6337-E65CF607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36D1EF-16B9-1936-9A95-1739C474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9F60D4-8D29-9DF6-AE58-0754D6AF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46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3BE50-9612-0537-C931-69E5683B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662806-8C28-9892-1C6A-2617DDA66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771720-23A8-0448-0868-B0614CA7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F1AC0A-C224-4EBD-4CC7-6543490E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C77575-830C-3A8E-45E0-B993C5A1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97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01EE7-EEAB-EBCB-50FE-3CF75A9E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2931FD-0236-E83A-AB1D-B9525A81F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3D8347-C290-66C6-5C03-B54C2395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B769BC-0A89-AE42-C928-5A234E29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C6FC3A-FC34-FAE4-DC22-B8DEFDDA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22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ED903-7A09-DA1B-726C-6B95115B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8ECA60-E6FE-9A6F-599D-809B8134F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EB4CC3-1FDC-BDC0-1F52-DFC7D272F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2DBFEA-9F7B-5501-00AE-8E7A4206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9FFCA7-DD1E-0948-D3B0-3C0AD8B6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83E636-48B9-A139-B3B7-7048D1C9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99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31C3DC-C7F0-666C-FD16-A4EBB019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153CBB-4173-5FF6-5AC2-AAE83F93A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C3B4E2-F6D1-9E54-042B-D2FC894D2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AB1F170-2F4D-DBE1-BE6B-8833C4B76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B071B9F-6264-91F0-0A7E-F86F47E3C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D89BB7-061F-3D26-C3BB-CA1ABE7C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629934-98FB-7F9E-A2B4-BB839499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E80982E-0BB2-1180-AD9D-F6248034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01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C49556-D9DD-A62B-BB78-5A271F30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FFB5EF-1DDE-9F87-4073-0B3C6FBA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61BD1B-8C66-FF64-52E3-86FFF489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D5AFF0-6A82-6AE6-8549-5ABFDCE8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2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BD8AB01-B732-693E-582D-4247C635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FC608A-94D9-7312-1BD5-14C63EF2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9936DB-7C77-265A-4773-81E4BFDF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93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64123D-1244-F552-FFBB-3E288274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F805AB-F852-7018-EB30-1293A9A4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059B63-2290-91FD-E196-CF6F8C535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B963F6-0A22-9703-5106-FB8B7A57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2807F5-2F41-2492-F3A7-8D70186A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D3CE53-3011-9561-9306-39D50E7D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53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4A24D-3C20-3E7E-AFFD-BAD4F406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74B49E3-B5C0-6577-5C0D-A1C90F514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D77B5B-CB71-72B0-04E9-99266346D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0C4BD4-98C0-61CD-1F14-57F1EB4C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DA22FD-79BE-BCA8-93CE-DA073FFC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9E0C03-C589-E43B-743D-8D8EC719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24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EAB97-4AA4-A266-8AB0-346A5136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D89997-CA02-B671-2B01-6A4DAC5DB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053557-B91F-3CE0-C41E-25D1164C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776812-EB38-D85B-B4D7-5AD9C2DA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0BC6F7-7F3D-EAD0-E5BD-F719F2DB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99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DBC272-D183-EC18-4C6D-016DB9314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A00299-1033-0483-7076-2B3015DCD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8D6C8F-4BEB-F922-3C51-DF651797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1780C7-D313-9A9D-7034-CEB7D609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3D65FB-6F55-C019-3F64-EC53FF17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303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99334F-5EBB-2623-FEA7-C7E68BA6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F7A92C-FCA9-E4DC-83A9-479B73EFF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486E7C-9D16-8D7D-E88B-D0EB2D50B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C61DF-B7E8-45EF-8064-462E1E0D1CB4}" type="datetimeFigureOut">
              <a:rPr lang="de-DE" smtClean="0"/>
              <a:t>25.08.26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F6B5D2-C5DB-85D1-EF45-578FB3DD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3DAE2-DF5A-95C6-6544-26FE0EB4F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38BDE-458F-48A3-BDF4-CEBA62EB6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4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Anwendungsfalldiagramm#/media/Datei:Uml-UseCase-Beispiel1.sv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" TargetMode="External"/><Relationship Id="rId5" Type="http://schemas.openxmlformats.org/officeDocument/2006/relationships/hyperlink" Target="https://de.wikipedia.org/wiki/Benutzer:Gubaer" TargetMode="External"/><Relationship Id="rId4" Type="http://schemas.openxmlformats.org/officeDocument/2006/relationships/hyperlink" Target="https://commons.wikimedia.org/w/index.php?title=User:Stkl&amp;action=edit&amp;redlink=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Anwendungsfalldiagramm#/media/Datei:Uml-UseCase-Beispiel2.sv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" TargetMode="External"/><Relationship Id="rId4" Type="http://schemas.openxmlformats.org/officeDocument/2006/relationships/hyperlink" Target="https://de.wikipedia.org/wiki/Anwendungsfalldiagramm#/media/Datei:Uml-UseCase-Generalisierung.sv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" TargetMode="External"/><Relationship Id="rId5" Type="http://schemas.openxmlformats.org/officeDocument/2006/relationships/hyperlink" Target="https://de.wikipedia.org/wiki/Anwendungsfalldiagramm#/media/Datei:Uml-UseCase-Include.svg" TargetMode="External"/><Relationship Id="rId4" Type="http://schemas.openxmlformats.org/officeDocument/2006/relationships/hyperlink" Target="https://de.wikipedia.org/wiki/Anwendungsfalldiagramm#/media/Datei:Uml-UseCase-Extend.sv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3.0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.wikipedia.org/wiki/Benutzer:Ice_Wiki" TargetMode="External"/><Relationship Id="rId5" Type="http://schemas.openxmlformats.org/officeDocument/2006/relationships/hyperlink" Target="https://commons.wikimedia.org/wiki/File:Extend2.jpg" TargetMode="External"/><Relationship Id="rId4" Type="http://schemas.openxmlformats.org/officeDocument/2006/relationships/hyperlink" Target="https://commons.wikimedia.org/w/index.php?title=User:Stkl&amp;action=edit&amp;redlink=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_case_diagram#/media/File:Use_case_restaurant_model.svg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Klassendiagramm#/media/Datei:UmlCd_Klasse-3.svg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" TargetMode="External"/><Relationship Id="rId4" Type="http://schemas.openxmlformats.org/officeDocument/2006/relationships/hyperlink" Target="https://de.wikipedia.org/wiki/Benutzer:Guba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Unified_Modeling_Language#/media/Datei:UmlCd_Klassendiagramm-1.svg" TargetMode="External"/><Relationship Id="rId7" Type="http://schemas.openxmlformats.org/officeDocument/2006/relationships/hyperlink" Target="https://creativecommons.org/licenses/by-sa/3.0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/index.php?title=User:Gubaer&amp;action=edit&amp;redlink=1" TargetMode="External"/><Relationship Id="rId5" Type="http://schemas.openxmlformats.org/officeDocument/2006/relationships/hyperlink" Target="https://commons.wikimedia.org/wiki/File:Klassendiagramm-1.png" TargetMode="External"/><Relationship Id="rId4" Type="http://schemas.openxmlformats.org/officeDocument/2006/relationships/hyperlink" Target="https://commons.wikimedia.org/w/index.php?title=User:Stkl&amp;action=edit&amp;redlink=1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thumb/e/e1/UmlCd_Interface-2.svg/2560px-UmlCd_Interface-2.svg.png%20CC%20BY-SA%203.0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.wikipedia.org/wiki/Benutzer:Gubaer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Objektdiagramm#/media/Datei:UmlOd-Beispiel-1.svg" TargetMode="External"/><Relationship Id="rId7" Type="http://schemas.openxmlformats.org/officeDocument/2006/relationships/hyperlink" Target="https://creativecommons.org/licenses/by-sa/3.0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/index.php?title=User:Gubaer&amp;action=edit&amp;redlink=1" TargetMode="External"/><Relationship Id="rId5" Type="http://schemas.openxmlformats.org/officeDocument/2006/relationships/hyperlink" Target="https://commons.wikimedia.org/wiki/File:Instance_specification_3.png" TargetMode="External"/><Relationship Id="rId4" Type="http://schemas.openxmlformats.org/officeDocument/2006/relationships/hyperlink" Target="https://commons.wikimedia.org/w/index.php?title=User:Stkl&amp;action=edit&amp;redlink=1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customXml" Target="../ink/ink15.xml"/><Relationship Id="rId18" Type="http://schemas.openxmlformats.org/officeDocument/2006/relationships/image" Target="../media/image42.png"/><Relationship Id="rId3" Type="http://schemas.openxmlformats.org/officeDocument/2006/relationships/hyperlink" Target="https://creativecommons.org/licenses/by-sa/3.0" TargetMode="External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39.png"/><Relationship Id="rId17" Type="http://schemas.openxmlformats.org/officeDocument/2006/relationships/customXml" Target="../ink/ink17.xml"/><Relationship Id="rId2" Type="http://schemas.openxmlformats.org/officeDocument/2006/relationships/hyperlink" Target="https://de.wikipedia.org/wiki/Sequenzdiagramm#/media/Datei:UmlSequenzdiagramm-2.svg" TargetMode="External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14.xml"/><Relationship Id="rId24" Type="http://schemas.openxmlformats.org/officeDocument/2006/relationships/image" Target="../media/image45.png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10" Type="http://schemas.openxmlformats.org/officeDocument/2006/relationships/image" Target="../media/image38.png"/><Relationship Id="rId19" Type="http://schemas.openxmlformats.org/officeDocument/2006/relationships/customXml" Target="../ink/ink18.xml"/><Relationship Id="rId4" Type="http://schemas.openxmlformats.org/officeDocument/2006/relationships/image" Target="../media/image35.png"/><Relationship Id="rId9" Type="http://schemas.openxmlformats.org/officeDocument/2006/relationships/customXml" Target="../ink/ink13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hyperlink" Target="https://de.wikipedia.org/wiki/Sequenzdiagramm#/media/Datei:UmlSequenzdiagramm-3.svg" TargetMode="External"/><Relationship Id="rId7" Type="http://schemas.openxmlformats.org/officeDocument/2006/relationships/customXml" Target="../ink/ink21.xml"/><Relationship Id="rId12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/index.php?title=User:Stkl&amp;action=edit&amp;redlink=1" TargetMode="External"/><Relationship Id="rId11" Type="http://schemas.openxmlformats.org/officeDocument/2006/relationships/customXml" Target="../ink/ink23.xml"/><Relationship Id="rId5" Type="http://schemas.openxmlformats.org/officeDocument/2006/relationships/hyperlink" Target="https://de.wikipedia.org/wiki/Benutzer:Gubaer" TargetMode="External"/><Relationship Id="rId10" Type="http://schemas.openxmlformats.org/officeDocument/2006/relationships/image" Target="../media/image51.png"/><Relationship Id="rId4" Type="http://schemas.openxmlformats.org/officeDocument/2006/relationships/hyperlink" Target="https://creativecommons.org/licenses/by-sa/3.0" TargetMode="External"/><Relationship Id="rId9" Type="http://schemas.openxmlformats.org/officeDocument/2006/relationships/customXml" Target="../ink/ink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customXml" Target="../ink/ink32.xml"/><Relationship Id="rId26" Type="http://schemas.openxmlformats.org/officeDocument/2006/relationships/customXml" Target="../ink/ink36.xml"/><Relationship Id="rId39" Type="http://schemas.openxmlformats.org/officeDocument/2006/relationships/image" Target="../media/image71.png"/><Relationship Id="rId21" Type="http://schemas.openxmlformats.org/officeDocument/2006/relationships/image" Target="../media/image62.png"/><Relationship Id="rId34" Type="http://schemas.openxmlformats.org/officeDocument/2006/relationships/customXml" Target="../ink/ink40.xml"/><Relationship Id="rId42" Type="http://schemas.openxmlformats.org/officeDocument/2006/relationships/customXml" Target="../ink/ink44.xml"/><Relationship Id="rId47" Type="http://schemas.openxmlformats.org/officeDocument/2006/relationships/image" Target="../media/image75.png"/><Relationship Id="rId50" Type="http://schemas.openxmlformats.org/officeDocument/2006/relationships/customXml" Target="../ink/ink48.xml"/><Relationship Id="rId55" Type="http://schemas.openxmlformats.org/officeDocument/2006/relationships/image" Target="../media/image79.png"/><Relationship Id="rId7" Type="http://schemas.openxmlformats.org/officeDocument/2006/relationships/image" Target="../media/image55.png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9" Type="http://schemas.openxmlformats.org/officeDocument/2006/relationships/image" Target="../media/image66.png"/><Relationship Id="rId11" Type="http://schemas.openxmlformats.org/officeDocument/2006/relationships/image" Target="../media/image57.png"/><Relationship Id="rId24" Type="http://schemas.openxmlformats.org/officeDocument/2006/relationships/customXml" Target="../ink/ink35.xml"/><Relationship Id="rId32" Type="http://schemas.openxmlformats.org/officeDocument/2006/relationships/customXml" Target="../ink/ink39.xml"/><Relationship Id="rId37" Type="http://schemas.openxmlformats.org/officeDocument/2006/relationships/image" Target="../media/image70.png"/><Relationship Id="rId40" Type="http://schemas.openxmlformats.org/officeDocument/2006/relationships/customXml" Target="../ink/ink43.xml"/><Relationship Id="rId45" Type="http://schemas.openxmlformats.org/officeDocument/2006/relationships/image" Target="../media/image74.png"/><Relationship Id="rId53" Type="http://schemas.openxmlformats.org/officeDocument/2006/relationships/image" Target="../media/image78.png"/><Relationship Id="rId58" Type="http://schemas.openxmlformats.org/officeDocument/2006/relationships/customXml" Target="../ink/ink52.xml"/><Relationship Id="rId5" Type="http://schemas.openxmlformats.org/officeDocument/2006/relationships/image" Target="../media/image54.png"/><Relationship Id="rId19" Type="http://schemas.openxmlformats.org/officeDocument/2006/relationships/image" Target="../media/image61.png"/><Relationship Id="rId4" Type="http://schemas.openxmlformats.org/officeDocument/2006/relationships/customXml" Target="../ink/ink25.xml"/><Relationship Id="rId9" Type="http://schemas.openxmlformats.org/officeDocument/2006/relationships/image" Target="../media/image56.png"/><Relationship Id="rId14" Type="http://schemas.openxmlformats.org/officeDocument/2006/relationships/customXml" Target="../ink/ink30.xml"/><Relationship Id="rId22" Type="http://schemas.openxmlformats.org/officeDocument/2006/relationships/customXml" Target="../ink/ink34.xml"/><Relationship Id="rId27" Type="http://schemas.openxmlformats.org/officeDocument/2006/relationships/image" Target="../media/image65.png"/><Relationship Id="rId30" Type="http://schemas.openxmlformats.org/officeDocument/2006/relationships/customXml" Target="../ink/ink38.xml"/><Relationship Id="rId35" Type="http://schemas.openxmlformats.org/officeDocument/2006/relationships/image" Target="../media/image69.png"/><Relationship Id="rId43" Type="http://schemas.openxmlformats.org/officeDocument/2006/relationships/image" Target="../media/image73.png"/><Relationship Id="rId48" Type="http://schemas.openxmlformats.org/officeDocument/2006/relationships/customXml" Target="../ink/ink47.xml"/><Relationship Id="rId56" Type="http://schemas.openxmlformats.org/officeDocument/2006/relationships/customXml" Target="../ink/ink51.xml"/><Relationship Id="rId8" Type="http://schemas.openxmlformats.org/officeDocument/2006/relationships/customXml" Target="../ink/ink27.xml"/><Relationship Id="rId51" Type="http://schemas.openxmlformats.org/officeDocument/2006/relationships/image" Target="../media/image77.png"/><Relationship Id="rId3" Type="http://schemas.openxmlformats.org/officeDocument/2006/relationships/image" Target="../media/image53.png"/><Relationship Id="rId12" Type="http://schemas.openxmlformats.org/officeDocument/2006/relationships/customXml" Target="../ink/ink29.xml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33" Type="http://schemas.openxmlformats.org/officeDocument/2006/relationships/image" Target="../media/image68.png"/><Relationship Id="rId38" Type="http://schemas.openxmlformats.org/officeDocument/2006/relationships/customXml" Target="../ink/ink42.xml"/><Relationship Id="rId46" Type="http://schemas.openxmlformats.org/officeDocument/2006/relationships/customXml" Target="../ink/ink46.xml"/><Relationship Id="rId59" Type="http://schemas.openxmlformats.org/officeDocument/2006/relationships/image" Target="../media/image81.png"/><Relationship Id="rId20" Type="http://schemas.openxmlformats.org/officeDocument/2006/relationships/customXml" Target="../ink/ink33.xml"/><Relationship Id="rId41" Type="http://schemas.openxmlformats.org/officeDocument/2006/relationships/image" Target="../media/image72.png"/><Relationship Id="rId54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28" Type="http://schemas.openxmlformats.org/officeDocument/2006/relationships/customXml" Target="../ink/ink37.xml"/><Relationship Id="rId36" Type="http://schemas.openxmlformats.org/officeDocument/2006/relationships/customXml" Target="../ink/ink41.xml"/><Relationship Id="rId49" Type="http://schemas.openxmlformats.org/officeDocument/2006/relationships/image" Target="../media/image76.png"/><Relationship Id="rId57" Type="http://schemas.openxmlformats.org/officeDocument/2006/relationships/image" Target="../media/image80.png"/><Relationship Id="rId10" Type="http://schemas.openxmlformats.org/officeDocument/2006/relationships/customXml" Target="../ink/ink28.xml"/><Relationship Id="rId31" Type="http://schemas.openxmlformats.org/officeDocument/2006/relationships/image" Target="../media/image67.png"/><Relationship Id="rId44" Type="http://schemas.openxmlformats.org/officeDocument/2006/relationships/customXml" Target="../ink/ink45.xml"/><Relationship Id="rId52" Type="http://schemas.openxmlformats.org/officeDocument/2006/relationships/customXml" Target="../ink/ink4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Aktivit%C3%A4tsdiagramm#/media/Datei:Uml-Activity-Beispiel2.svg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.wikipedia.org/wiki/Benutzer:Stern" TargetMode="External"/><Relationship Id="rId4" Type="http://schemas.openxmlformats.org/officeDocument/2006/relationships/hyperlink" Target="https://creativecommons.org/licenses/by-sa/3.0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3" Type="http://schemas.openxmlformats.org/officeDocument/2006/relationships/image" Target="../media/image85.png"/><Relationship Id="rId7" Type="http://schemas.openxmlformats.org/officeDocument/2006/relationships/hyperlink" Target="https://creativecommons.org/licenses/by-sa/3.0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.wikipedia.org/wiki/Benutzer:Stern" TargetMode="External"/><Relationship Id="rId11" Type="http://schemas.openxmlformats.org/officeDocument/2006/relationships/image" Target="../media/image580.png"/><Relationship Id="rId5" Type="http://schemas.openxmlformats.org/officeDocument/2006/relationships/hyperlink" Target="https://commons.wikimedia.org/wiki/File:Aktivity_diagram_2.png" TargetMode="External"/><Relationship Id="rId10" Type="http://schemas.openxmlformats.org/officeDocument/2006/relationships/customXml" Target="../ink/ink54.xml"/><Relationship Id="rId4" Type="http://schemas.openxmlformats.org/officeDocument/2006/relationships/hyperlink" Target="https://de.wikipedia.org/wiki/Aktivit%C3%A4tsdiagramm#/media/Datei:Uml-Activity-Beispiel1.svg" TargetMode="External"/><Relationship Id="rId9" Type="http://schemas.openxmlformats.org/officeDocument/2006/relationships/image" Target="../media/image57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hyperlink" Target="https://creativecommons.org/licenses/by-sa/4.0" TargetMode="External"/><Relationship Id="rId7" Type="http://schemas.openxmlformats.org/officeDocument/2006/relationships/image" Target="../media/image630.png"/><Relationship Id="rId2" Type="http://schemas.openxmlformats.org/officeDocument/2006/relationships/hyperlink" Target="https://commons.wikimedia.org/wiki/Category:UML_activity_diagrams?uselang=de#/media/File:Diagrama_d'Activitats.tiff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5" Type="http://schemas.openxmlformats.org/officeDocument/2006/relationships/image" Target="../media/image90.png"/><Relationship Id="rId4" Type="http://schemas.openxmlformats.org/officeDocument/2006/relationships/hyperlink" Target="https://commons.wikimedia.org/w/index.php?title=User:Jab15pm&amp;action=edit&amp;redlink=1" TargetMode="External"/><Relationship Id="rId9" Type="http://schemas.openxmlformats.org/officeDocument/2006/relationships/image" Target="../media/image6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Zustandsdiagramm_(UML)#/media/Datei:Uml-Zustandsdiagramm-5.svg" TargetMode="External"/><Relationship Id="rId7" Type="http://schemas.openxmlformats.org/officeDocument/2006/relationships/hyperlink" Target="https://creativecommons.org/licenses/by-sa/4.0" TargetMode="Externa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.wikipedia.org/wiki/Benutzer:Gubaer" TargetMode="External"/><Relationship Id="rId5" Type="http://schemas.openxmlformats.org/officeDocument/2006/relationships/hyperlink" Target="https://commons.wikimedia.org/wiki/File:Statemachine-5.png" TargetMode="External"/><Relationship Id="rId4" Type="http://schemas.openxmlformats.org/officeDocument/2006/relationships/hyperlink" Target="https://de.wikipedia.org/wiki/Benutzer:Stkl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Zustandsdiagramm_(UML)#/media/Datei:Uml-Zustandsdiagramm-2.svg" TargetMode="Externa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.wikipedia.org/wiki/Benutzer:Gubaer" TargetMode="External"/><Relationship Id="rId4" Type="http://schemas.openxmlformats.org/officeDocument/2006/relationships/hyperlink" Target="https://creativecommons.org/licenses/by-sa/4.0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Zustandsdiagramm_(UML)#/media/Datei:Uml-Zustandsdiagramm-4.svg" TargetMode="Externa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.wikipedia.org/wiki/Benutzer:Gubaer" TargetMode="External"/><Relationship Id="rId4" Type="http://schemas.openxmlformats.org/officeDocument/2006/relationships/hyperlink" Target="https://creativecommons.org/licenses/by-sa/4.0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oer-informatik.de/uml-zustand" TargetMode="Externa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4.0/deed.de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oer-informatik.de/uml-zustand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4.0/deed.de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ployment_diagram#/media/File:Deployment_Diagram.PNG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/index.php?title=User:Kishorekumar_62&amp;action=edit&amp;redlink=1" TargetMode="External"/><Relationship Id="rId4" Type="http://schemas.openxmlformats.org/officeDocument/2006/relationships/hyperlink" Target="http://creativecommons.org/licenses/by-sa/3.0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ployment_diagram#/media/File:Deployment_Diagram.PNG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/index.php?title=User:Kishorekumar_62&amp;action=edit&amp;redlink=1" TargetMode="External"/><Relationship Id="rId4" Type="http://schemas.openxmlformats.org/officeDocument/2006/relationships/hyperlink" Target="http://creativecommons.org/licenses/by-sa/3.0/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.xml"/><Relationship Id="rId13" Type="http://schemas.openxmlformats.org/officeDocument/2006/relationships/image" Target="../media/image103.png"/><Relationship Id="rId18" Type="http://schemas.openxmlformats.org/officeDocument/2006/relationships/customXml" Target="../ink/ink63.xml"/><Relationship Id="rId3" Type="http://schemas.openxmlformats.org/officeDocument/2006/relationships/hyperlink" Target="https://de.wikipedia.org/wiki/Unified_Modeling_Language#/media/Datei:UML-Diagramme.svg" TargetMode="External"/><Relationship Id="rId21" Type="http://schemas.openxmlformats.org/officeDocument/2006/relationships/image" Target="../media/image107.png"/><Relationship Id="rId7" Type="http://schemas.openxmlformats.org/officeDocument/2006/relationships/image" Target="../media/image1000.png"/><Relationship Id="rId12" Type="http://schemas.openxmlformats.org/officeDocument/2006/relationships/customXml" Target="../ink/ink60.xml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2" Type="http://schemas.openxmlformats.org/officeDocument/2006/relationships/image" Target="../media/image101.png"/><Relationship Id="rId16" Type="http://schemas.openxmlformats.org/officeDocument/2006/relationships/customXml" Target="../ink/ink62.xml"/><Relationship Id="rId20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1" Type="http://schemas.openxmlformats.org/officeDocument/2006/relationships/image" Target="../media/image102.png"/><Relationship Id="rId24" Type="http://schemas.openxmlformats.org/officeDocument/2006/relationships/customXml" Target="../ink/ink66.xml"/><Relationship Id="rId5" Type="http://schemas.openxmlformats.org/officeDocument/2006/relationships/hyperlink" Target="https://creativecommons.org/licenses/by-sa/3.0" TargetMode="External"/><Relationship Id="rId15" Type="http://schemas.openxmlformats.org/officeDocument/2006/relationships/image" Target="../media/image104.png"/><Relationship Id="rId23" Type="http://schemas.openxmlformats.org/officeDocument/2006/relationships/image" Target="../media/image108.png"/><Relationship Id="rId10" Type="http://schemas.openxmlformats.org/officeDocument/2006/relationships/customXml" Target="../ink/ink59.xml"/><Relationship Id="rId19" Type="http://schemas.openxmlformats.org/officeDocument/2006/relationships/image" Target="../media/image106.png"/><Relationship Id="rId4" Type="http://schemas.openxmlformats.org/officeDocument/2006/relationships/hyperlink" Target="https://commons.wikimedia.org/w/index.php?title=User:MetaMarph&amp;action=edit&amp;redlink=1" TargetMode="External"/><Relationship Id="rId9" Type="http://schemas.openxmlformats.org/officeDocument/2006/relationships/image" Target="../media/image1010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CC78CD-01DD-6A0B-37A2-CCCD21DB1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de-DE" sz="8000">
                <a:solidFill>
                  <a:srgbClr val="FFFFFF"/>
                </a:solidFill>
              </a:rPr>
              <a:t>UML Diagramme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1E6ECF-D279-8ADC-C241-6B5859416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de-DE" sz="200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1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728FA5-1AA7-E3E8-F327-AD2C7292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Einführung in UML (Unified Modeling Language)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6DF3A2-0C43-3AE1-77D4-BE85B60E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 b="1"/>
              <a:t>Was ist UML?</a:t>
            </a:r>
            <a:endParaRPr lang="de-DE" sz="2000"/>
          </a:p>
          <a:p>
            <a:pPr lvl="1"/>
            <a:r>
              <a:rPr lang="de-DE" sz="2000"/>
              <a:t>Eine standardisierte Sprache zur Modellierung von Softwaresystemen.</a:t>
            </a:r>
          </a:p>
          <a:p>
            <a:pPr lvl="1"/>
            <a:r>
              <a:rPr lang="de-DE" sz="2000"/>
              <a:t>Dient der Visualisierung, Spezifikation, Konstruktion und Dokumentation.</a:t>
            </a:r>
          </a:p>
          <a:p>
            <a:r>
              <a:rPr lang="de-DE" sz="2000" b="1"/>
              <a:t>Wichtig:</a:t>
            </a:r>
            <a:r>
              <a:rPr lang="de-DE" sz="2000"/>
              <a:t> UML ist </a:t>
            </a:r>
            <a:r>
              <a:rPr lang="de-DE" sz="2000" b="1"/>
              <a:t>keine Programmiersprache</a:t>
            </a:r>
            <a:r>
              <a:rPr lang="de-DE" sz="2000"/>
              <a:t>, sondern eine </a:t>
            </a:r>
            <a:r>
              <a:rPr lang="de-DE" sz="2000" b="1"/>
              <a:t>Modellierungssprache</a:t>
            </a:r>
            <a:r>
              <a:rPr lang="de-DE" sz="2000"/>
              <a:t>.</a:t>
            </a:r>
          </a:p>
          <a:p>
            <a:endParaRPr lang="de-DE" sz="2000"/>
          </a:p>
          <a:p>
            <a:r>
              <a:rPr lang="de-DE" sz="2000" b="1"/>
              <a:t>Die zwei Hauptkategorien:</a:t>
            </a:r>
            <a:endParaRPr lang="de-DE" sz="2000"/>
          </a:p>
          <a:p>
            <a:pPr lvl="1"/>
            <a:r>
              <a:rPr lang="de-DE" sz="2000" b="1"/>
              <a:t>Strukturdiagramme:</a:t>
            </a:r>
            <a:r>
              <a:rPr lang="de-DE" sz="2000"/>
              <a:t> Zeigen den statischen Aufbau (z. B. Klassendiagramm).</a:t>
            </a:r>
          </a:p>
          <a:p>
            <a:pPr lvl="1"/>
            <a:r>
              <a:rPr lang="de-DE" sz="2000" b="1"/>
              <a:t>Verhaltensdiagramme:</a:t>
            </a:r>
            <a:r>
              <a:rPr lang="de-DE" sz="2000"/>
              <a:t> Zeigen das dynamische Verhalten und Abläufe (z. B. Aktivitäts-, Sequenz-, Zustandsdiagramm).</a:t>
            </a:r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19870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532831-7D14-68D3-0727-9F927141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 UML Diagramm Hierarchie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C9BAC376-A92B-D893-4E92-C1C38C0BF0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021" y="1690688"/>
            <a:ext cx="78116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8285F33-0021-A9F4-DB64-1C9112EF731C}"/>
              </a:ext>
            </a:extLst>
          </p:cNvPr>
          <p:cNvSpPr txBox="1"/>
          <p:nvPr/>
        </p:nvSpPr>
        <p:spPr>
          <a:xfrm>
            <a:off x="2145721" y="6217335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/>
              <a:t>https://en.wikipedia.org/wiki/Class_diagram#/media/File:UML_diagrams_overview.svg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53E8E165-4828-9E8E-F4BE-F84CF370A445}"/>
                  </a:ext>
                </a:extLst>
              </p14:cNvPr>
              <p14:cNvContentPartPr/>
              <p14:nvPr/>
            </p14:nvContentPartPr>
            <p14:xfrm>
              <a:off x="2247620" y="4158570"/>
              <a:ext cx="914040" cy="201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53E8E165-4828-9E8E-F4BE-F84CF370A4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1500" y="4152450"/>
                <a:ext cx="9262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8A10886E-E099-95F2-51AA-76ADD9D16AAF}"/>
                  </a:ext>
                </a:extLst>
              </p14:cNvPr>
              <p14:cNvContentPartPr/>
              <p14:nvPr/>
            </p14:nvContentPartPr>
            <p14:xfrm>
              <a:off x="3447860" y="4273410"/>
              <a:ext cx="908280" cy="7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8A10886E-E099-95F2-51AA-76ADD9D16A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1740" y="4261170"/>
                <a:ext cx="9205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7E6685C8-D0A0-1975-BCAD-7983EDC38F41}"/>
                  </a:ext>
                </a:extLst>
              </p14:cNvPr>
              <p14:cNvContentPartPr/>
              <p14:nvPr/>
            </p14:nvContentPartPr>
            <p14:xfrm>
              <a:off x="4000100" y="4907730"/>
              <a:ext cx="1023480" cy="327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7E6685C8-D0A0-1975-BCAD-7983EDC38F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3980" y="4901610"/>
                <a:ext cx="1035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88639184-DFA3-22A7-63E7-781232FCACD4}"/>
                  </a:ext>
                </a:extLst>
              </p14:cNvPr>
              <p14:cNvContentPartPr/>
              <p14:nvPr/>
            </p14:nvContentPartPr>
            <p14:xfrm>
              <a:off x="4267220" y="5810250"/>
              <a:ext cx="984240" cy="194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88639184-DFA3-22A7-63E7-781232FCAC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61100" y="5804130"/>
                <a:ext cx="996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B0D2A0EF-51FB-2207-F894-EFFF42489FC3}"/>
                  </a:ext>
                </a:extLst>
              </p14:cNvPr>
              <p14:cNvContentPartPr/>
              <p14:nvPr/>
            </p14:nvContentPartPr>
            <p14:xfrm>
              <a:off x="5988020" y="4171890"/>
              <a:ext cx="844200" cy="5832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B0D2A0EF-51FB-2207-F894-EFFF42489F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81900" y="4165770"/>
                <a:ext cx="8564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2DCFF685-EDDE-1D1B-B6C0-F32288967EEE}"/>
                  </a:ext>
                </a:extLst>
              </p14:cNvPr>
              <p14:cNvContentPartPr/>
              <p14:nvPr/>
            </p14:nvContentPartPr>
            <p14:xfrm>
              <a:off x="8134340" y="4190610"/>
              <a:ext cx="869760" cy="756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2DCFF685-EDDE-1D1B-B6C0-F32288967E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28220" y="4184490"/>
                <a:ext cx="882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EF6C689E-7971-74D5-6F06-C3C15C996890}"/>
                  </a:ext>
                </a:extLst>
              </p14:cNvPr>
              <p14:cNvContentPartPr/>
              <p14:nvPr/>
            </p14:nvContentPartPr>
            <p14:xfrm>
              <a:off x="4858181" y="4096918"/>
              <a:ext cx="354600" cy="25848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EF6C689E-7971-74D5-6F06-C3C15C9968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52061" y="4090798"/>
                <a:ext cx="3668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1E907EF9-A365-04FB-8E5F-BAE2B8F0C1CD}"/>
                  </a:ext>
                </a:extLst>
              </p14:cNvPr>
              <p14:cNvContentPartPr/>
              <p14:nvPr/>
            </p14:nvContentPartPr>
            <p14:xfrm>
              <a:off x="6707861" y="3329038"/>
              <a:ext cx="245880" cy="20124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1E907EF9-A365-04FB-8E5F-BAE2B8F0C1C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01741" y="3322918"/>
                <a:ext cx="2581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294254F4-097F-CB66-F482-40880C3C35C9}"/>
                  </a:ext>
                </a:extLst>
              </p14:cNvPr>
              <p14:cNvContentPartPr/>
              <p14:nvPr/>
            </p14:nvContentPartPr>
            <p14:xfrm>
              <a:off x="9129941" y="3421918"/>
              <a:ext cx="245160" cy="22680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294254F4-097F-CB66-F482-40880C3C35C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23821" y="3415798"/>
                <a:ext cx="2574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04DBA292-F0B0-136A-4910-5939C78F6585}"/>
                  </a:ext>
                </a:extLst>
              </p14:cNvPr>
              <p14:cNvContentPartPr/>
              <p14:nvPr/>
            </p14:nvContentPartPr>
            <p14:xfrm>
              <a:off x="5232120" y="5050420"/>
              <a:ext cx="132480" cy="21852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04DBA292-F0B0-136A-4910-5939C78F65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26000" y="5044300"/>
                <a:ext cx="14472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1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356F7D-C452-C889-11CE-BA73A458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Use Case Diagramm (Anwendungsfalldiagramm)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7A2F9A-E46F-B803-C970-C4F2957C3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b="1" dirty="0"/>
              <a:t>Zweck:</a:t>
            </a:r>
            <a:br>
              <a:rPr lang="de-DE" dirty="0"/>
            </a:br>
            <a:r>
              <a:rPr lang="de-DE" dirty="0"/>
              <a:t>Beschreibt, </a:t>
            </a:r>
            <a:r>
              <a:rPr lang="de-DE" b="1" dirty="0"/>
              <a:t>wer</a:t>
            </a:r>
            <a:r>
              <a:rPr lang="de-DE" dirty="0"/>
              <a:t> (Akteur) </a:t>
            </a:r>
            <a:r>
              <a:rPr lang="de-DE" b="1" dirty="0"/>
              <a:t>was</a:t>
            </a:r>
            <a:r>
              <a:rPr lang="de-DE" dirty="0"/>
              <a:t> (Anwendungsfall) mit dem System macht. Es zeigt die Anforderungen aus Nutzersicht.</a:t>
            </a:r>
          </a:p>
          <a:p>
            <a:pPr lvl="1"/>
            <a:r>
              <a:rPr lang="de-DE" sz="2800" b="1" dirty="0"/>
              <a:t>Akteur (Männchen):</a:t>
            </a:r>
            <a:r>
              <a:rPr lang="de-DE" sz="2800" dirty="0"/>
              <a:t> Benutzer oder externes System.</a:t>
            </a:r>
          </a:p>
          <a:p>
            <a:pPr lvl="1"/>
            <a:r>
              <a:rPr lang="de-DE" sz="2800" b="1" dirty="0"/>
              <a:t>Use Case (Ellipse):</a:t>
            </a:r>
            <a:r>
              <a:rPr lang="de-DE" sz="2800" dirty="0"/>
              <a:t> Eine Funktion des Systems.</a:t>
            </a:r>
          </a:p>
          <a:p>
            <a:pPr lvl="1"/>
            <a:r>
              <a:rPr lang="de-DE" sz="2800" b="1" dirty="0"/>
              <a:t>Systemgrenze (Rechteck):</a:t>
            </a:r>
            <a:r>
              <a:rPr lang="de-DE" sz="2800" dirty="0"/>
              <a:t> Trennt System von der Außenwelt.</a:t>
            </a:r>
          </a:p>
          <a:p>
            <a:pPr lvl="1"/>
            <a:r>
              <a:rPr lang="de-DE" sz="2800" b="1" dirty="0"/>
              <a:t>Beispiel-Szenario:</a:t>
            </a:r>
            <a:r>
              <a:rPr lang="de-DE" sz="2800" dirty="0"/>
              <a:t> GSM Mobilfunk System.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35446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341FAD-B8B0-2F1D-0AC1-CFEEBD9C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 Anwendungsfalldiagramm</a:t>
            </a:r>
          </a:p>
        </p:txBody>
      </p:sp>
      <p:pic>
        <p:nvPicPr>
          <p:cNvPr id="1026" name="Picture 2" descr="Das Schlüsselwort im Kopfbereich ist use case. Das Anwendungsfalldiagramm in der Abbildung links ist in einen Kopf- und in einen Inhaltsbereich getrennt und mit einem Rahmen umschlossen, so wie es die UML2 neu für alle Diagramme vorsieht.">
            <a:extLst>
              <a:ext uri="{FF2B5EF4-FFF2-40B4-BE49-F238E27FC236}">
                <a16:creationId xmlns:a16="http://schemas.microsoft.com/office/drawing/2014/main" id="{A7E464C3-D4B1-DFB7-DBAF-5B98EF94AE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851" y="1253331"/>
            <a:ext cx="691889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B1AE6AE-C186-811B-987A-033C4F5E24F3}"/>
              </a:ext>
            </a:extLst>
          </p:cNvPr>
          <p:cNvSpPr txBox="1"/>
          <p:nvPr/>
        </p:nvSpPr>
        <p:spPr>
          <a:xfrm>
            <a:off x="2636551" y="6169709"/>
            <a:ext cx="609716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https://de.wikipedia.org/wiki/Anwendungsfalldiagramm#/media/Datei:Uml-UseCase-Beispiel1.svg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User:Stkl (page does not exist)"/>
              </a:rPr>
              <a:t>Stkl</a:t>
            </a:r>
            <a:r>
              <a:rPr lang="de-DE" sz="800" dirty="0"/>
              <a:t> - </a:t>
            </a:r>
            <a:r>
              <a:rPr lang="de-DE" sz="800" dirty="0" err="1">
                <a:hlinkClick r:id="rId5" tooltip="de:Benutzer:Gubaer"/>
              </a:rPr>
              <a:t>Gubaer</a:t>
            </a:r>
            <a:endParaRPr lang="de-DE" sz="800" dirty="0"/>
          </a:p>
          <a:p>
            <a:r>
              <a:rPr lang="de-DE" sz="800" dirty="0">
                <a:hlinkClick r:id="rId6"/>
              </a:rPr>
              <a:t>CC BY-SA 3.0</a:t>
            </a:r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450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5D5595-910D-2C91-E6C3-4F95F85DF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 Diagramm komplexeres Beispiel</a:t>
            </a:r>
          </a:p>
        </p:txBody>
      </p:sp>
      <p:pic>
        <p:nvPicPr>
          <p:cNvPr id="3074" name="Picture 2" descr="Ein komplexeres Anwendungsfalldiagramm, das die Beziehungen zwischen dem Akteur Benutzer und dem System Multimediasystem festhält. Ein Benutzer ist an vier Anwendungsfällen interessiert, die ihrerseits untereinander in Beziehung stehen. Musik-CD erstellen ist der komplexeste Anwendungsfall, weil er zwei andere Anwendungsfälle importiert und optional durch einen dritten, CD beschriften, erweitert wird.">
            <a:extLst>
              <a:ext uri="{FF2B5EF4-FFF2-40B4-BE49-F238E27FC236}">
                <a16:creationId xmlns:a16="http://schemas.microsoft.com/office/drawing/2014/main" id="{538A13D2-4A5E-06C8-344D-1F79E7A0A5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41450"/>
            <a:ext cx="5496073" cy="434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227DA1D-8477-2881-0ABE-2CB3E0263075}"/>
              </a:ext>
            </a:extLst>
          </p:cNvPr>
          <p:cNvSpPr txBox="1"/>
          <p:nvPr/>
        </p:nvSpPr>
        <p:spPr>
          <a:xfrm>
            <a:off x="6178550" y="570933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https://de.wikipedia.org/wiki/Anwendungsfalldiagramm#/media/Datei:Uml-UseCase-Beispiel2.svg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endParaRPr lang="de-DE" sz="800" dirty="0"/>
          </a:p>
          <a:p>
            <a:r>
              <a:rPr lang="de-DE" sz="800" dirty="0" err="1"/>
              <a:t>Stkl</a:t>
            </a:r>
            <a:r>
              <a:rPr lang="de-DE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689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D4193-70F4-D1B4-98DF-0D5FDA8B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Generalisierung Use Case 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A1AEE7-F649-1410-AB31-869C2386F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Generalisierung von Akteuren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Generalisierung von Anwendungsfällen</a:t>
            </a:r>
          </a:p>
        </p:txBody>
      </p:sp>
      <p:pic>
        <p:nvPicPr>
          <p:cNvPr id="6148" name="Picture 4" descr="Generalisierung von Akteuren.">
            <a:extLst>
              <a:ext uri="{FF2B5EF4-FFF2-40B4-BE49-F238E27FC236}">
                <a16:creationId xmlns:a16="http://schemas.microsoft.com/office/drawing/2014/main" id="{E8FFBDD4-6B91-2850-5195-54C00B3D6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427" y="1473994"/>
            <a:ext cx="2297386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Generalisierung von Anwendungsfällen.">
            <a:extLst>
              <a:ext uri="{FF2B5EF4-FFF2-40B4-BE49-F238E27FC236}">
                <a16:creationId xmlns:a16="http://schemas.microsoft.com/office/drawing/2014/main" id="{7F3ADB8E-7DF5-59B4-5F9A-4CE2B9AC1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0" y="4578350"/>
            <a:ext cx="382905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8EBE899-BF9D-5E46-692D-4759033C758F}"/>
              </a:ext>
            </a:extLst>
          </p:cNvPr>
          <p:cNvSpPr txBox="1"/>
          <p:nvPr/>
        </p:nvSpPr>
        <p:spPr>
          <a:xfrm>
            <a:off x="0" y="6492875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4"/>
              </a:rPr>
              <a:t>https://de.wikipedia.org/wiki/Anwendungsfalldiagramm#/media/Datei:Uml-UseCase-Generalisierung.svg</a:t>
            </a:r>
            <a:r>
              <a:rPr lang="de-DE" sz="800" dirty="0"/>
              <a:t> </a:t>
            </a:r>
            <a:r>
              <a:rPr lang="de-DE" sz="800" dirty="0">
                <a:hlinkClick r:id="rId5"/>
              </a:rPr>
              <a:t>CC BY-SA 3.0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79647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9E009-31D3-6C55-8D3E-1D557CEE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 Diagramm Beziehungen</a:t>
            </a:r>
          </a:p>
        </p:txBody>
      </p:sp>
      <p:pic>
        <p:nvPicPr>
          <p:cNvPr id="4098" name="Picture 2" descr="Extend-Beziehung im Anwendungsfalldiagramm, wobei Anwendungsfall A den Anwendungsfall B erweitert.">
            <a:extLst>
              <a:ext uri="{FF2B5EF4-FFF2-40B4-BE49-F238E27FC236}">
                <a16:creationId xmlns:a16="http://schemas.microsoft.com/office/drawing/2014/main" id="{8C5D6684-42D6-5E60-5CAD-DCA4850734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307928"/>
            <a:ext cx="5219700" cy="11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clude-Beziehung im Anwendungsfalldiagramm, wobei Anwendungsfall A den Anwendungsfall B beinhaltet.">
            <a:extLst>
              <a:ext uri="{FF2B5EF4-FFF2-40B4-BE49-F238E27FC236}">
                <a16:creationId xmlns:a16="http://schemas.microsoft.com/office/drawing/2014/main" id="{39C11469-57D4-85A7-77AB-1016E2F2D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56171"/>
            <a:ext cx="4788401" cy="10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9196FF9-C14D-A193-6158-A35ABCA0E4F9}"/>
              </a:ext>
            </a:extLst>
          </p:cNvPr>
          <p:cNvSpPr txBox="1"/>
          <p:nvPr/>
        </p:nvSpPr>
        <p:spPr>
          <a:xfrm>
            <a:off x="958850" y="3721785"/>
            <a:ext cx="5060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Include-Beziehung</a:t>
            </a:r>
            <a:r>
              <a:rPr lang="de-DE" dirty="0"/>
              <a:t> im Anwendungsfalldiagramm, wobei Anwendungsfall A den Anwendungsfall B beinhaltet.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98E08CD-6DDA-0BE7-16FA-52A8BE349359}"/>
              </a:ext>
            </a:extLst>
          </p:cNvPr>
          <p:cNvSpPr txBox="1"/>
          <p:nvPr/>
        </p:nvSpPr>
        <p:spPr>
          <a:xfrm>
            <a:off x="6019800" y="3721785"/>
            <a:ext cx="5308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Extend</a:t>
            </a:r>
            <a:r>
              <a:rPr lang="de-DE" b="1" dirty="0"/>
              <a:t>-Beziehung</a:t>
            </a:r>
            <a:r>
              <a:rPr lang="de-DE" dirty="0"/>
              <a:t> im Anwendungsfalldiagramm, wobei Anwendungsfall A den Anwendungsfall B erweitert.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99C79A5-49C9-E1D4-75EB-A40A071EC361}"/>
              </a:ext>
            </a:extLst>
          </p:cNvPr>
          <p:cNvSpPr txBox="1"/>
          <p:nvPr/>
        </p:nvSpPr>
        <p:spPr>
          <a:xfrm>
            <a:off x="152400" y="632359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4"/>
              </a:rPr>
              <a:t>https://de.wikipedia.org/wiki/Anwendungsfalldiagramm#/media/Datei:Uml-UseCase-Extend.svg</a:t>
            </a:r>
            <a:r>
              <a:rPr lang="de-DE" sz="800" dirty="0"/>
              <a:t> </a:t>
            </a:r>
            <a:r>
              <a:rPr lang="de-DE" sz="800" dirty="0">
                <a:hlinkClick r:id="rId5"/>
              </a:rPr>
              <a:t>https://de.wikipedia.org/wiki/Anwendungsfalldiagramm#/media/Datei:Uml-UseCase-Include.svg</a:t>
            </a:r>
            <a:r>
              <a:rPr lang="de-DE" sz="800" dirty="0"/>
              <a:t> </a:t>
            </a:r>
            <a:r>
              <a:rPr lang="de-DE" sz="800" dirty="0">
                <a:hlinkClick r:id="rId6"/>
              </a:rPr>
              <a:t>CC BY-SA 3.0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36075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37EE8-B37E-C163-9E67-C0A2E514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 Diagramme –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points</a:t>
            </a:r>
            <a:endParaRPr lang="de-DE" dirty="0"/>
          </a:p>
        </p:txBody>
      </p:sp>
      <p:pic>
        <p:nvPicPr>
          <p:cNvPr id="5122" name="Picture 2" descr="Extend-Beziehung mit extension point, wobei Anwendungsfall A den Anwendungsfall B unter der angegebenen Bedingung erweitert.">
            <a:extLst>
              <a:ext uri="{FF2B5EF4-FFF2-40B4-BE49-F238E27FC236}">
                <a16:creationId xmlns:a16="http://schemas.microsoft.com/office/drawing/2014/main" id="{21B2EDCE-BFC2-FCF3-E7DD-CD8F74CF81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2437461"/>
            <a:ext cx="5619750" cy="149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964A073-B63F-7683-C7CB-0BAFA6ABEF1C}"/>
              </a:ext>
            </a:extLst>
          </p:cNvPr>
          <p:cNvSpPr txBox="1"/>
          <p:nvPr/>
        </p:nvSpPr>
        <p:spPr>
          <a:xfrm>
            <a:off x="2838450" y="41484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/>
              <a:t>Extend</a:t>
            </a:r>
            <a:r>
              <a:rPr lang="de-DE" dirty="0"/>
              <a:t>-Beziehung mit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, wobei Anwendungsfall A den Anwendungsfall B unter der angegebenen Bedingung erweitert.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998495-DE70-388C-B02E-A45CAA0181FC}"/>
              </a:ext>
            </a:extLst>
          </p:cNvPr>
          <p:cNvSpPr txBox="1"/>
          <p:nvPr/>
        </p:nvSpPr>
        <p:spPr>
          <a:xfrm>
            <a:off x="0" y="6539558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CC BY-SA 3.0</a:t>
            </a:r>
            <a:r>
              <a:rPr lang="de-DE" sz="800" dirty="0"/>
              <a:t> </a:t>
            </a:r>
            <a:r>
              <a:rPr lang="de-DE" sz="800" dirty="0" err="1">
                <a:hlinkClick r:id="rId4" tooltip="User:Stkl (page does not exist)"/>
              </a:rPr>
              <a:t>Stkl</a:t>
            </a:r>
            <a:r>
              <a:rPr lang="de-DE" sz="800" dirty="0"/>
              <a:t> - </a:t>
            </a:r>
            <a:r>
              <a:rPr lang="de-DE" sz="800" dirty="0" err="1"/>
              <a:t>Redrawn</a:t>
            </a:r>
            <a:r>
              <a:rPr lang="de-DE" sz="800" dirty="0"/>
              <a:t> in SVG, original JPEG </a:t>
            </a:r>
            <a:r>
              <a:rPr lang="de-DE" sz="800" dirty="0">
                <a:hlinkClick r:id="rId5" tooltip="File:Extend2.jpg"/>
              </a:rPr>
              <a:t>Extend2.jpg</a:t>
            </a:r>
            <a:r>
              <a:rPr lang="de-DE" sz="800" dirty="0"/>
              <a:t> </a:t>
            </a:r>
            <a:r>
              <a:rPr lang="de-DE" sz="800" dirty="0" err="1"/>
              <a:t>by</a:t>
            </a:r>
            <a:r>
              <a:rPr lang="de-DE" sz="800" dirty="0"/>
              <a:t> </a:t>
            </a:r>
            <a:r>
              <a:rPr lang="de-DE" sz="800" dirty="0">
                <a:hlinkClick r:id="rId6" tooltip="de:Benutzer:Ice Wiki"/>
              </a:rPr>
              <a:t>Ice Wiki</a:t>
            </a:r>
            <a:r>
              <a:rPr lang="de-DE" sz="800" dirty="0"/>
              <a:t> https://de.wikipedia.org/wiki/Anwendungsfalldiagramm</a:t>
            </a:r>
          </a:p>
        </p:txBody>
      </p:sp>
    </p:spTree>
    <p:extLst>
      <p:ext uri="{BB962C8B-B14F-4D97-AF65-F5344CB8AC3E}">
        <p14:creationId xmlns:p14="http://schemas.microsoft.com/office/powerpoint/2010/main" val="311688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38E19-158B-3287-9479-81B8E4C4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Use Case Diagramm</a:t>
            </a:r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70A63883-E3A6-287C-95D5-D2F1EDC1AA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781" y="18637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F9D0362-CE21-D812-EF82-E4C3F5510DCD}"/>
              </a:ext>
            </a:extLst>
          </p:cNvPr>
          <p:cNvSpPr txBox="1"/>
          <p:nvPr/>
        </p:nvSpPr>
        <p:spPr>
          <a:xfrm>
            <a:off x="5429250" y="6280378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https://en.wikipedia.org/wiki/Use_case_diagram#/media/File:Use_case_restaurant_model.svg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480225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9B2A0F-E2B0-E67D-6140-4CD2B59B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 (Struktur)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4C447A-4A90-D27E-2D45-F0A2E8EA2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Klassendiagramm (Struktur)</a:t>
            </a:r>
          </a:p>
          <a:p>
            <a:r>
              <a:rPr lang="de-DE" b="1" dirty="0"/>
              <a:t>Zweck:</a:t>
            </a:r>
            <a:br>
              <a:rPr lang="de-DE" dirty="0"/>
            </a:br>
            <a:r>
              <a:rPr lang="de-DE" dirty="0"/>
              <a:t>Das wichtigste Diagramm für OOP. Zeigt Klassen, Attribute, Methoden und Beziehungen (Vererbung, Assoziation).</a:t>
            </a:r>
          </a:p>
          <a:p>
            <a:r>
              <a:rPr lang="de-DE" b="1" dirty="0"/>
              <a:t>Syntax:</a:t>
            </a:r>
            <a:endParaRPr lang="de-DE" dirty="0"/>
          </a:p>
          <a:p>
            <a:pPr lvl="1"/>
            <a:r>
              <a:rPr lang="de-DE" dirty="0"/>
              <a:t>+ Public</a:t>
            </a:r>
          </a:p>
          <a:p>
            <a:pPr lvl="1"/>
            <a:r>
              <a:rPr lang="de-DE" dirty="0"/>
              <a:t>- Private</a:t>
            </a:r>
          </a:p>
          <a:p>
            <a:pPr lvl="1"/>
            <a:r>
              <a:rPr lang="de-DE" dirty="0"/>
              <a:t># </a:t>
            </a:r>
            <a:r>
              <a:rPr lang="de-DE" dirty="0" err="1"/>
              <a:t>Protected</a:t>
            </a:r>
            <a:endParaRPr lang="de-DE" dirty="0"/>
          </a:p>
        </p:txBody>
      </p:sp>
      <p:pic>
        <p:nvPicPr>
          <p:cNvPr id="9220" name="Picture 4" descr="undefined">
            <a:extLst>
              <a:ext uri="{FF2B5EF4-FFF2-40B4-BE49-F238E27FC236}">
                <a16:creationId xmlns:a16="http://schemas.microsoft.com/office/drawing/2014/main" id="{80CD7D85-7961-E47B-6EA3-CE21DBFCB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618" y="3686861"/>
            <a:ext cx="6418524" cy="256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6E29EC3-BE3D-090C-C7A9-F23276F14FB4}"/>
              </a:ext>
            </a:extLst>
          </p:cNvPr>
          <p:cNvSpPr txBox="1"/>
          <p:nvPr/>
        </p:nvSpPr>
        <p:spPr>
          <a:xfrm>
            <a:off x="5386962" y="6176963"/>
            <a:ext cx="60972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https://de.wikipedia.org/wiki/Klassendiagramm#/media/Datei:UmlCd_Klasse-3.svg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de:Benutzer:Gubaer"/>
              </a:rPr>
              <a:t>Gubaer</a:t>
            </a:r>
            <a:endParaRPr lang="de-DE" sz="800" dirty="0"/>
          </a:p>
          <a:p>
            <a:r>
              <a:rPr lang="de-DE" sz="800" dirty="0">
                <a:hlinkClick r:id="rId5"/>
              </a:rPr>
              <a:t>CC BY-SA 3.0</a:t>
            </a:r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6129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1EFCA-FBF2-6FFF-53DA-71943433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Klassendiagramme Syntax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A1B7A0-CB29-D58A-8378-F389E8577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Generalisierung (in Pfeilrichtung)</a:t>
            </a:r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Assoziation </a:t>
            </a:r>
          </a:p>
          <a:p>
            <a:endParaRPr lang="de-DE" dirty="0"/>
          </a:p>
        </p:txBody>
      </p:sp>
      <p:pic>
        <p:nvPicPr>
          <p:cNvPr id="11268" name="Picture 4" descr="undefined">
            <a:extLst>
              <a:ext uri="{FF2B5EF4-FFF2-40B4-BE49-F238E27FC236}">
                <a16:creationId xmlns:a16="http://schemas.microsoft.com/office/drawing/2014/main" id="{473BA268-1D92-462F-A8E0-C7986033D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498" y="1690688"/>
            <a:ext cx="3255264" cy="73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Beispiel für eine binäre Assoziation">
            <a:extLst>
              <a:ext uri="{FF2B5EF4-FFF2-40B4-BE49-F238E27FC236}">
                <a16:creationId xmlns:a16="http://schemas.microsoft.com/office/drawing/2014/main" id="{1D5C8A82-9D6A-4AC7-96D8-1305AA30E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569" y="3429000"/>
            <a:ext cx="5806231" cy="246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ECF9393-5540-F762-D89D-E7698783C14D}"/>
              </a:ext>
            </a:extLst>
          </p:cNvPr>
          <p:cNvSpPr txBox="1"/>
          <p:nvPr/>
        </p:nvSpPr>
        <p:spPr>
          <a:xfrm>
            <a:off x="1071209" y="4001294"/>
            <a:ext cx="42433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Eine </a:t>
            </a:r>
            <a:r>
              <a:rPr lang="de-DE" b="1" dirty="0"/>
              <a:t>Assoziation</a:t>
            </a:r>
            <a:r>
              <a:rPr lang="de-DE" dirty="0"/>
              <a:t> beschreibt eine </a:t>
            </a:r>
            <a:r>
              <a:rPr lang="de-DE" b="1" dirty="0"/>
              <a:t>strukturelle Beziehung</a:t>
            </a:r>
            <a:r>
              <a:rPr lang="de-DE" dirty="0"/>
              <a:t> zwischen </a:t>
            </a:r>
            <a:r>
              <a:rPr lang="de-DE" b="1" dirty="0"/>
              <a:t>Klassen</a:t>
            </a:r>
            <a:r>
              <a:rPr lang="de-DE" dirty="0"/>
              <a:t>.</a:t>
            </a:r>
          </a:p>
          <a:p>
            <a:br>
              <a:rPr lang="de-DE" dirty="0"/>
            </a:br>
            <a:r>
              <a:rPr lang="de-DE" dirty="0"/>
              <a:t>An den Enden von Assoziationen sind häufig Multiplizitäten vermerkt.</a:t>
            </a:r>
          </a:p>
        </p:txBody>
      </p:sp>
    </p:spTree>
    <p:extLst>
      <p:ext uri="{BB962C8B-B14F-4D97-AF65-F5344CB8AC3E}">
        <p14:creationId xmlns:p14="http://schemas.microsoft.com/office/powerpoint/2010/main" val="405959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5EE79-C390-2D16-CD38-DE9DCF69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</a:t>
            </a:r>
          </a:p>
        </p:txBody>
      </p:sp>
      <p:pic>
        <p:nvPicPr>
          <p:cNvPr id="5" name="Inhaltsplatzhalter 4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39DC3600-620E-9D39-6D47-B6B6340E5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7636" y="1923347"/>
            <a:ext cx="3261144" cy="4351338"/>
          </a:xfrm>
          <a:prstGeom prst="rect">
            <a:avLst/>
          </a:prstGeom>
        </p:spPr>
      </p:pic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031050C-ADAB-D735-6A47-D10F3B61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770" y="1923347"/>
            <a:ext cx="3933657" cy="4320998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D621042-D022-EF09-AA38-730C9E77163B}"/>
              </a:ext>
            </a:extLst>
          </p:cNvPr>
          <p:cNvCxnSpPr>
            <a:cxnSpLocks/>
          </p:cNvCxnSpPr>
          <p:nvPr/>
        </p:nvCxnSpPr>
        <p:spPr>
          <a:xfrm flipH="1" flipV="1">
            <a:off x="9299068" y="4397497"/>
            <a:ext cx="1757494" cy="404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680B63C-D49A-7CD3-2226-B4CF90D076E8}"/>
              </a:ext>
            </a:extLst>
          </p:cNvPr>
          <p:cNvSpPr txBox="1"/>
          <p:nvPr/>
        </p:nvSpPr>
        <p:spPr>
          <a:xfrm>
            <a:off x="11046673" y="4348637"/>
            <a:ext cx="1135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„Auto erbt von Fahrzeug“</a:t>
            </a:r>
          </a:p>
        </p:txBody>
      </p:sp>
    </p:spTree>
    <p:extLst>
      <p:ext uri="{BB962C8B-B14F-4D97-AF65-F5344CB8AC3E}">
        <p14:creationId xmlns:p14="http://schemas.microsoft.com/office/powerpoint/2010/main" val="344445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29E8B-BDA8-7421-E1F7-E8D9C628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Multiplizität/Kardinalität (UML)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4CF862-A753-DC73-ADC2-53B674420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Sie gibt an, </a:t>
            </a:r>
            <a:r>
              <a:rPr lang="de-DE" sz="2400" b="1" dirty="0"/>
              <a:t>wie viele Objekte</a:t>
            </a:r>
            <a:r>
              <a:rPr lang="de-DE" sz="2400" dirty="0"/>
              <a:t> beteiligt sind.</a:t>
            </a:r>
          </a:p>
          <a:p>
            <a:r>
              <a:rPr lang="de-DE" sz="2400" dirty="0"/>
              <a:t>wird oft mit </a:t>
            </a:r>
            <a:r>
              <a:rPr lang="de-DE" sz="2400" b="1" dirty="0" err="1"/>
              <a:t>untereSchranke</a:t>
            </a:r>
            <a:r>
              <a:rPr lang="de-DE" sz="2400" b="1" dirty="0"/>
              <a:t>..</a:t>
            </a:r>
            <a:r>
              <a:rPr lang="de-DE" sz="2400" b="1" dirty="0" err="1"/>
              <a:t>obereSchranke</a:t>
            </a:r>
            <a:r>
              <a:rPr lang="de-DE" sz="2400" b="1" dirty="0"/>
              <a:t> </a:t>
            </a:r>
            <a:r>
              <a:rPr lang="de-DE" sz="2400" dirty="0"/>
              <a:t>angegeben, </a:t>
            </a:r>
          </a:p>
          <a:p>
            <a:r>
              <a:rPr lang="de-DE" sz="2400" b="1" dirty="0"/>
              <a:t>*</a:t>
            </a:r>
            <a:r>
              <a:rPr lang="de-DE" sz="2400" dirty="0"/>
              <a:t> bei der oberen Schranke für den Wert </a:t>
            </a:r>
            <a:r>
              <a:rPr lang="de-DE" sz="2400" b="1" i="1" dirty="0"/>
              <a:t>unbeschränkt</a:t>
            </a:r>
            <a:r>
              <a:rPr lang="de-DE" sz="2400" dirty="0"/>
              <a:t> steht </a:t>
            </a:r>
          </a:p>
          <a:p>
            <a:r>
              <a:rPr lang="de-DE" sz="2400" dirty="0"/>
              <a:t>* oftmals als Abkürzung für 0..* verwendet wird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348462F-0FE5-3383-9830-D4598DC8C66E}"/>
              </a:ext>
            </a:extLst>
          </p:cNvPr>
          <p:cNvGraphicFramePr>
            <a:graphicFrameLocks noGrp="1"/>
          </p:cNvGraphicFramePr>
          <p:nvPr/>
        </p:nvGraphicFramePr>
        <p:xfrm>
          <a:off x="830638" y="4195343"/>
          <a:ext cx="10523162" cy="2194560"/>
        </p:xfrm>
        <a:graphic>
          <a:graphicData uri="http://schemas.openxmlformats.org/drawingml/2006/table">
            <a:tbl>
              <a:tblPr/>
              <a:tblGrid>
                <a:gridCol w="5265362">
                  <a:extLst>
                    <a:ext uri="{9D8B030D-6E8A-4147-A177-3AD203B41FA5}">
                      <a16:colId xmlns:a16="http://schemas.microsoft.com/office/drawing/2014/main" val="30003408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01013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Bedeutung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598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atin typeface="Courier New" panose="02070309020205020404" pitchFamily="49" charset="0"/>
                        </a:rPr>
                        <a:t>1</a:t>
                      </a:r>
                      <a:endParaRPr lang="de-D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genau 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1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atin typeface="Courier New" panose="02070309020205020404" pitchFamily="49" charset="0"/>
                        </a:rPr>
                        <a:t>0..1</a:t>
                      </a:r>
                      <a:endParaRPr lang="de-D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null oder 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53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de-DE" dirty="0"/>
                        <a:t> oder </a:t>
                      </a:r>
                      <a:r>
                        <a:rPr lang="de-DE" dirty="0">
                          <a:latin typeface="Courier New" panose="02070309020205020404" pitchFamily="49" charset="0"/>
                        </a:rPr>
                        <a:t>0..*</a:t>
                      </a:r>
                      <a:endParaRPr lang="de-D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beliebig viele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46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atin typeface="Courier New" panose="02070309020205020404" pitchFamily="49" charset="0"/>
                        </a:rPr>
                        <a:t>1..*</a:t>
                      </a:r>
                      <a:endParaRPr lang="de-D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mindestens 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atin typeface="Courier New" panose="02070309020205020404" pitchFamily="49" charset="0"/>
                        </a:rPr>
                        <a:t>2..5</a:t>
                      </a:r>
                      <a:endParaRPr lang="de-D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zwischen 2 und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8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7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DE353-4947-D63E-A023-26E10685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</a:t>
            </a:r>
          </a:p>
        </p:txBody>
      </p:sp>
      <p:pic>
        <p:nvPicPr>
          <p:cNvPr id="10242" name="Picture 2" descr="undefined">
            <a:extLst>
              <a:ext uri="{FF2B5EF4-FFF2-40B4-BE49-F238E27FC236}">
                <a16:creationId xmlns:a16="http://schemas.microsoft.com/office/drawing/2014/main" id="{0F8BD4E3-EE59-AEF7-E5A2-E36DBFF7B0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887" y="1790724"/>
            <a:ext cx="686770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17B89B-9367-6E12-E772-1AFE57E481D5}"/>
              </a:ext>
            </a:extLst>
          </p:cNvPr>
          <p:cNvSpPr txBox="1"/>
          <p:nvPr/>
        </p:nvSpPr>
        <p:spPr>
          <a:xfrm>
            <a:off x="2571404" y="5918932"/>
            <a:ext cx="60972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https://de.wikipedia.org/wiki/Unified_Modeling_Language#/media/Datei:UmlCd_Klassendiagramm-1.svg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User:Stkl (page does not exist)"/>
              </a:rPr>
              <a:t>Stkl</a:t>
            </a:r>
            <a:r>
              <a:rPr lang="de-DE" sz="800" dirty="0"/>
              <a:t> - </a:t>
            </a:r>
            <a:r>
              <a:rPr lang="de-DE" sz="800" dirty="0" err="1"/>
              <a:t>Redrawn</a:t>
            </a:r>
            <a:r>
              <a:rPr lang="de-DE" sz="800" dirty="0"/>
              <a:t> in SVG, original PNG </a:t>
            </a:r>
            <a:r>
              <a:rPr lang="de-DE" sz="800" dirty="0">
                <a:hlinkClick r:id="rId5" tooltip="File:Klassendiagramm-1.png"/>
              </a:rPr>
              <a:t>Klassendiagramm-1.png</a:t>
            </a:r>
            <a:r>
              <a:rPr lang="de-DE" sz="800" dirty="0"/>
              <a:t> </a:t>
            </a:r>
            <a:r>
              <a:rPr lang="de-DE" sz="800" dirty="0" err="1"/>
              <a:t>by</a:t>
            </a:r>
            <a:r>
              <a:rPr lang="de-DE" sz="800" dirty="0"/>
              <a:t> </a:t>
            </a:r>
            <a:r>
              <a:rPr lang="de-DE" sz="800" dirty="0" err="1">
                <a:hlinkClick r:id="rId6" tooltip="User:Gubaer (page does not exist)"/>
              </a:rPr>
              <a:t>Gubaer</a:t>
            </a:r>
            <a:endParaRPr lang="de-DE" sz="800" dirty="0"/>
          </a:p>
          <a:p>
            <a:r>
              <a:rPr lang="de-DE" sz="800" dirty="0"/>
              <a:t>Beispiel Klassendiagramm</a:t>
            </a:r>
          </a:p>
          <a:p>
            <a:r>
              <a:rPr lang="de-DE" sz="800" dirty="0">
                <a:hlinkClick r:id="rId7"/>
              </a:rPr>
              <a:t>CC BY-SA 3.0</a:t>
            </a:r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0369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147F5-19A0-AC16-C8E1-2AA6B7F5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</a:t>
            </a:r>
          </a:p>
        </p:txBody>
      </p:sp>
      <p:pic>
        <p:nvPicPr>
          <p:cNvPr id="7" name="Inhaltsplatzhalter 6" descr="Ein Bild, das Reihe, Diagramm, Entwurf, Schwarzweiß enthält.&#10;&#10;KI-generierte Inhalte können fehlerhaft sein.">
            <a:extLst>
              <a:ext uri="{FF2B5EF4-FFF2-40B4-BE49-F238E27FC236}">
                <a16:creationId xmlns:a16="http://schemas.microsoft.com/office/drawing/2014/main" id="{41B913C4-F1FB-F8F7-8A23-D0A82326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8238" y="1839709"/>
            <a:ext cx="3007012" cy="39965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1E91467-4ED2-CEFF-D229-8FAB92173F7B}"/>
              </a:ext>
            </a:extLst>
          </p:cNvPr>
          <p:cNvSpPr txBox="1"/>
          <p:nvPr/>
        </p:nvSpPr>
        <p:spPr>
          <a:xfrm>
            <a:off x="2876550" y="1930401"/>
            <a:ext cx="3101688" cy="368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Assoziation</a:t>
            </a:r>
          </a:p>
          <a:p>
            <a:endParaRPr lang="de-DE" dirty="0"/>
          </a:p>
          <a:p>
            <a:r>
              <a:rPr lang="de-DE" dirty="0"/>
              <a:t>Gerichtete Assoziation</a:t>
            </a:r>
          </a:p>
          <a:p>
            <a:endParaRPr lang="de-DE" dirty="0"/>
          </a:p>
          <a:p>
            <a:r>
              <a:rPr lang="de-DE" dirty="0"/>
              <a:t>Vererbung</a:t>
            </a:r>
          </a:p>
          <a:p>
            <a:endParaRPr lang="de-DE" dirty="0"/>
          </a:p>
          <a:p>
            <a:r>
              <a:rPr lang="de-DE" dirty="0"/>
              <a:t>Realisierung/Implementation</a:t>
            </a:r>
          </a:p>
          <a:p>
            <a:endParaRPr lang="de-DE" dirty="0"/>
          </a:p>
          <a:p>
            <a:r>
              <a:rPr lang="de-DE" dirty="0"/>
              <a:t>Abhängigkeit</a:t>
            </a:r>
          </a:p>
          <a:p>
            <a:endParaRPr lang="de-DE" dirty="0"/>
          </a:p>
          <a:p>
            <a:r>
              <a:rPr lang="de-DE" dirty="0"/>
              <a:t>Aggregation</a:t>
            </a:r>
          </a:p>
          <a:p>
            <a:endParaRPr lang="de-DE" dirty="0"/>
          </a:p>
          <a:p>
            <a:r>
              <a:rPr lang="de-DE" dirty="0"/>
              <a:t>Komposition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6AF0413-FADC-D09C-7C3F-DC58141C76F1}"/>
              </a:ext>
            </a:extLst>
          </p:cNvPr>
          <p:cNvSpPr txBox="1"/>
          <p:nvPr/>
        </p:nvSpPr>
        <p:spPr>
          <a:xfrm>
            <a:off x="2889250" y="58594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https://en.wikipedia.org/wiki/Class_diagram#/media/File:Uml_classes_en.svg</a:t>
            </a:r>
          </a:p>
        </p:txBody>
      </p:sp>
    </p:spTree>
    <p:extLst>
      <p:ext uri="{BB962C8B-B14F-4D97-AF65-F5344CB8AC3E}">
        <p14:creationId xmlns:p14="http://schemas.microsoft.com/office/powerpoint/2010/main" val="415330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A2815-FDB2-E275-BECA-D4E29A4D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Interfaces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9660AC-A1DC-3326-979D-60D4C975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/>
              <a:t>Was ist ein Interface in Java?</a:t>
            </a:r>
          </a:p>
          <a:p>
            <a:r>
              <a:rPr lang="de-DE" dirty="0"/>
              <a:t>Ein Interface kann man sich wie einen </a:t>
            </a:r>
            <a:r>
              <a:rPr lang="de-DE" b="1" dirty="0"/>
              <a:t>Vertrag</a:t>
            </a:r>
            <a:r>
              <a:rPr lang="de-DE" dirty="0"/>
              <a:t> vorstellen. Es legt fest, </a:t>
            </a:r>
            <a:r>
              <a:rPr lang="de-DE" i="1" dirty="0"/>
              <a:t>was</a:t>
            </a:r>
            <a:r>
              <a:rPr lang="de-DE" dirty="0"/>
              <a:t> eine Klasse tun muss, aber nicht, </a:t>
            </a:r>
            <a:r>
              <a:rPr lang="de-DE" i="1" dirty="0"/>
              <a:t>wie</a:t>
            </a:r>
            <a:r>
              <a:rPr lang="de-DE" dirty="0"/>
              <a:t> sie es tut.</a:t>
            </a:r>
          </a:p>
          <a:p>
            <a:r>
              <a:rPr lang="de-DE" b="1" dirty="0"/>
              <a:t>Hauptmerkmale:</a:t>
            </a:r>
          </a:p>
          <a:p>
            <a:pPr lvl="1"/>
            <a:r>
              <a:rPr lang="de-DE" b="1" dirty="0"/>
              <a:t>Methodensignaturen:</a:t>
            </a:r>
            <a:r>
              <a:rPr lang="de-DE" dirty="0"/>
              <a:t> Ein Interface enthält normalerweise nur Methodenköpfe (Name, Rückgabetyp, Parameter), aber keinen Code im Rumpf.</a:t>
            </a:r>
          </a:p>
          <a:p>
            <a:pPr lvl="1"/>
            <a:r>
              <a:rPr lang="de-DE" b="1" dirty="0"/>
              <a:t>Keine Instanziierung:</a:t>
            </a:r>
            <a:r>
              <a:rPr lang="de-DE" dirty="0"/>
              <a:t> Man kann kein Objekt von einem Interface mit </a:t>
            </a:r>
            <a:r>
              <a:rPr lang="de-DE" dirty="0" err="1"/>
              <a:t>new</a:t>
            </a:r>
            <a:r>
              <a:rPr lang="de-DE" dirty="0"/>
              <a:t> erstellen.</a:t>
            </a:r>
          </a:p>
          <a:p>
            <a:pPr lvl="1"/>
            <a:r>
              <a:rPr lang="de-DE" b="1" dirty="0"/>
              <a:t>Mehrfachvererbung:</a:t>
            </a:r>
            <a:r>
              <a:rPr lang="de-DE" dirty="0"/>
              <a:t> Eine Klasse kann nur von </a:t>
            </a:r>
            <a:r>
              <a:rPr lang="de-DE" i="1" dirty="0"/>
              <a:t>einer</a:t>
            </a:r>
            <a:r>
              <a:rPr lang="de-DE" dirty="0"/>
              <a:t> Superklasse erben (</a:t>
            </a:r>
            <a:r>
              <a:rPr lang="de-DE" dirty="0" err="1"/>
              <a:t>extends</a:t>
            </a:r>
            <a:r>
              <a:rPr lang="de-DE" dirty="0"/>
              <a:t>), aber </a:t>
            </a:r>
            <a:r>
              <a:rPr lang="de-DE" i="1" dirty="0"/>
              <a:t>beliebig viele</a:t>
            </a:r>
            <a:r>
              <a:rPr lang="de-DE" dirty="0"/>
              <a:t> Interfaces implementieren (</a:t>
            </a:r>
            <a:r>
              <a:rPr lang="de-DE" dirty="0" err="1"/>
              <a:t>implements</a:t>
            </a:r>
            <a:r>
              <a:rPr lang="de-DE" dirty="0"/>
              <a:t>).</a:t>
            </a:r>
          </a:p>
          <a:p>
            <a:pPr lvl="1"/>
            <a:r>
              <a:rPr lang="de-DE" b="1" dirty="0"/>
              <a:t>Abstraktion:</a:t>
            </a:r>
            <a:r>
              <a:rPr lang="de-DE" dirty="0"/>
              <a:t> Es trennt die Definition einer Schnittstelle von ihrer konkreten Implementierung.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6874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8FD7E-D0F1-F3AE-1949-308DEE0F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Interfaces in Java</a:t>
            </a:r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807FDCC-772A-A7C1-E1AD-EA6EEB3FE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38990"/>
            <a:ext cx="4794250" cy="412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39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8D579-A21A-FD91-26D3-FC0F5DE5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in UML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5048BD-B331-E61A-7D1E-517515FB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4850" cy="4351338"/>
          </a:xfrm>
        </p:spPr>
        <p:txBody>
          <a:bodyPr>
            <a:normAutofit/>
          </a:bodyPr>
          <a:lstStyle/>
          <a:p>
            <a:r>
              <a:rPr lang="de-DE" dirty="0"/>
              <a:t>In der UML (Unified Modeling Language) wird ein Interface ähnlich wie eine Klasse dargestellt, aber mit spezifischen Kennzeichnungen.</a:t>
            </a:r>
          </a:p>
          <a:p>
            <a:r>
              <a:rPr lang="de-DE" b="1" dirty="0"/>
              <a:t>A. Das Interface-Symbol</a:t>
            </a:r>
          </a:p>
          <a:p>
            <a:pPr lvl="1"/>
            <a:r>
              <a:rPr lang="de-DE" dirty="0"/>
              <a:t>Ein Interface wird als Rechteck dargestellt, genau wie eine Klasse. Um es zu unterscheiden, nutzt man ein </a:t>
            </a:r>
            <a:r>
              <a:rPr lang="de-DE" b="1" dirty="0"/>
              <a:t>Stereotyp</a:t>
            </a:r>
            <a:r>
              <a:rPr lang="de-DE" dirty="0"/>
              <a:t>:</a:t>
            </a:r>
          </a:p>
          <a:p>
            <a:pPr lvl="2"/>
            <a:r>
              <a:rPr lang="de-DE" dirty="0"/>
              <a:t>Oben im Kasten steht in Guilloche-Klammern: </a:t>
            </a:r>
            <a:r>
              <a:rPr lang="de-DE" b="1" dirty="0"/>
              <a:t>«interface»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20ABC314-2F83-3896-1CDD-2191648C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850" y="2553806"/>
            <a:ext cx="4279900" cy="223776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E8FB16F-1993-D35C-B90D-09F4FDF81704}"/>
              </a:ext>
            </a:extLst>
          </p:cNvPr>
          <p:cNvSpPr txBox="1"/>
          <p:nvPr/>
        </p:nvSpPr>
        <p:spPr>
          <a:xfrm>
            <a:off x="7772400" y="4791566"/>
            <a:ext cx="4279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https://upload.wikimedia.org/wikipedia/commons/thumb/e/e1/UmlCd_Interface-2.svg/2560px-UmlCd_Interface-2.svg.png CC BY-SA 3.0</a:t>
            </a:r>
            <a:r>
              <a:rPr lang="de-DE" sz="800" dirty="0"/>
              <a:t> </a:t>
            </a:r>
            <a:r>
              <a:rPr lang="de-DE" sz="800" dirty="0" err="1">
                <a:hlinkClick r:id="rId4" tooltip="de:Benutzer:Gubaer"/>
              </a:rPr>
              <a:t>Gubaer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472352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92E28-73A3-FE68-A60A-17F474F8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Klassendiagramme - Gerichtete Assoziation (</a:t>
            </a:r>
            <a:r>
              <a:rPr lang="de-DE" dirty="0" err="1"/>
              <a:t>Directed</a:t>
            </a:r>
            <a:r>
              <a:rPr lang="de-DE" dirty="0"/>
              <a:t> </a:t>
            </a:r>
            <a:r>
              <a:rPr lang="de-DE" dirty="0" err="1"/>
              <a:t>Association</a:t>
            </a:r>
            <a:r>
              <a:rPr lang="de-DE" dirty="0"/>
              <a:t>)</a:t>
            </a:r>
          </a:p>
        </p:txBody>
      </p:sp>
      <p:pic>
        <p:nvPicPr>
          <p:cNvPr id="5" name="Inhaltsplatzhalter 4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B164A719-667E-C133-D85D-3D79B3021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1424" y="1863725"/>
            <a:ext cx="2178051" cy="43513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D85FAC2-D90E-5336-01E9-971AD3B94741}"/>
              </a:ext>
            </a:extLst>
          </p:cNvPr>
          <p:cNvSpPr txBox="1"/>
          <p:nvPr/>
        </p:nvSpPr>
        <p:spPr>
          <a:xfrm>
            <a:off x="895350" y="1777137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Erklärung:</a:t>
            </a:r>
            <a:br>
              <a:rPr lang="de-DE" dirty="0"/>
            </a:br>
            <a:r>
              <a:rPr lang="de-DE" dirty="0"/>
              <a:t>Eine gerichtete Assoziation beschreibt eine dauerhafte Beziehung zwischen zwei Klassen. Das wichtigste Merkmal ist die </a:t>
            </a:r>
            <a:r>
              <a:rPr lang="de-DE" b="1" dirty="0"/>
              <a:t>Navigierbarkeit</a:t>
            </a:r>
            <a:r>
              <a:rPr lang="de-DE" dirty="0"/>
              <a:t>: Klasse A kennt Klasse B und hat oft ein Attribut von diesem Typ, aber Klasse B kennt Klasse A nicht.</a:t>
            </a:r>
          </a:p>
          <a:p>
            <a:pPr>
              <a:buNone/>
            </a:pPr>
            <a:endParaRPr lang="de-DE" dirty="0"/>
          </a:p>
          <a:p>
            <a:r>
              <a:rPr lang="de-DE" b="1" dirty="0"/>
              <a:t>Symbol:</a:t>
            </a:r>
            <a:r>
              <a:rPr lang="de-DE" dirty="0"/>
              <a:t> Eine </a:t>
            </a:r>
            <a:r>
              <a:rPr lang="de-DE" b="1" dirty="0"/>
              <a:t>durchgezogene</a:t>
            </a:r>
            <a:r>
              <a:rPr lang="de-DE" dirty="0"/>
              <a:t> Linie mit einer </a:t>
            </a:r>
            <a:r>
              <a:rPr lang="de-DE" b="1" dirty="0"/>
              <a:t>offenen</a:t>
            </a:r>
            <a:r>
              <a:rPr lang="de-DE" dirty="0"/>
              <a:t> Pfeilspitze.</a:t>
            </a:r>
          </a:p>
          <a:p>
            <a:endParaRPr lang="de-DE" dirty="0"/>
          </a:p>
          <a:p>
            <a:r>
              <a:rPr lang="de-DE" b="1" dirty="0"/>
              <a:t>Beispiel:</a:t>
            </a:r>
            <a:r>
              <a:rPr lang="de-DE" dirty="0"/>
              <a:t> Ein Benutzer hat ein Profil. Der Benutzer greift auf sein Profil zu, aber das Profil-Objekt muss nicht wissen, welcher Benutzer es besitzt.</a:t>
            </a:r>
          </a:p>
          <a:p>
            <a:pPr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972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E0EFE-3BB5-A4B2-DCAB-5C74769B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Klassendiagramme Abhängigkeit (</a:t>
            </a:r>
            <a:r>
              <a:rPr lang="de-DE" dirty="0" err="1"/>
              <a:t>Dependency</a:t>
            </a:r>
            <a:r>
              <a:rPr lang="de-DE" dirty="0"/>
              <a:t>)</a:t>
            </a:r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F422EE9-2F22-4C8B-02C4-E16CE9893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5036" y="2003425"/>
            <a:ext cx="4082328" cy="43513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5EC2C3B-D396-59CF-F555-2C5F5A1A227E}"/>
              </a:ext>
            </a:extLst>
          </p:cNvPr>
          <p:cNvSpPr txBox="1"/>
          <p:nvPr/>
        </p:nvSpPr>
        <p:spPr>
          <a:xfrm>
            <a:off x="577850" y="217368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Erklärung:</a:t>
            </a:r>
            <a:br>
              <a:rPr lang="de-DE" dirty="0"/>
            </a:br>
            <a:r>
              <a:rPr lang="de-DE" dirty="0"/>
              <a:t>Eine </a:t>
            </a:r>
            <a:r>
              <a:rPr lang="de-DE" b="1" dirty="0"/>
              <a:t>Abhängigkeit</a:t>
            </a:r>
            <a:r>
              <a:rPr lang="de-DE" dirty="0"/>
              <a:t> ist eine schwächere, meist kurzfristige Beziehung. Man nennt sie oft eine „Benutzt-Beziehung“. Klasse A benötigt Klasse B nur für eine bestimmte Aufgabe (z. B. als Parameter in einer Methode oder als lokale Variable), speichert sie aber nicht dauerhaft als Attribut. Wenn sich Klasse B ändert, kann das Auswirkungen auf Klasse A haben.</a:t>
            </a:r>
          </a:p>
          <a:p>
            <a:pPr>
              <a:buNone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Symbol:</a:t>
            </a:r>
            <a:r>
              <a:rPr lang="de-DE" dirty="0"/>
              <a:t> Eine </a:t>
            </a:r>
            <a:r>
              <a:rPr lang="de-DE" b="1" dirty="0"/>
              <a:t>gestrichelte</a:t>
            </a:r>
            <a:r>
              <a:rPr lang="de-DE" dirty="0"/>
              <a:t> Linie mit einer </a:t>
            </a:r>
            <a:r>
              <a:rPr lang="de-DE" b="1" dirty="0"/>
              <a:t>offenen</a:t>
            </a:r>
            <a:r>
              <a:rPr lang="de-DE" dirty="0"/>
              <a:t> Pfeilspitze.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Beispiel:</a:t>
            </a:r>
            <a:r>
              <a:rPr lang="de-DE" dirty="0"/>
              <a:t> Ein </a:t>
            </a:r>
            <a:r>
              <a:rPr lang="de-DE" dirty="0" err="1"/>
              <a:t>RechnungsDrucker</a:t>
            </a:r>
            <a:r>
              <a:rPr lang="de-DE" dirty="0"/>
              <a:t> benötigt ein Dokument-Objekt, um die Methode drucken() auszuführen. Er "besitzt" das Dokument nicht dauerhaft.</a:t>
            </a:r>
          </a:p>
        </p:txBody>
      </p:sp>
    </p:spTree>
    <p:extLst>
      <p:ext uri="{BB962C8B-B14F-4D97-AF65-F5344CB8AC3E}">
        <p14:creationId xmlns:p14="http://schemas.microsoft.com/office/powerpoint/2010/main" val="2512062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FFD18-059F-0644-31D0-78FDDEF4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kombiniert</a:t>
            </a:r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3C8D8C54-000A-10B8-7A9D-CBBED387C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501" y="1933575"/>
            <a:ext cx="5572299" cy="43513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6FB90B8-490E-A5F2-EAF7-F425CFCA5EB8}"/>
              </a:ext>
            </a:extLst>
          </p:cNvPr>
          <p:cNvSpPr txBox="1"/>
          <p:nvPr/>
        </p:nvSpPr>
        <p:spPr>
          <a:xfrm>
            <a:off x="527050" y="2569686"/>
            <a:ext cx="48958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de-DE" dirty="0"/>
              <a:t>Der Kunde hat eine </a:t>
            </a:r>
            <a:r>
              <a:rPr lang="de-DE" b="1" dirty="0"/>
              <a:t>gerichtete Assoziation</a:t>
            </a:r>
            <a:r>
              <a:rPr lang="de-DE" dirty="0"/>
              <a:t> zum Warenkorb (er besitzt ihn über den gesamten Zeitraum).</a:t>
            </a:r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r>
              <a:rPr lang="de-DE" dirty="0"/>
              <a:t>Der Kunde hat eine </a:t>
            </a:r>
            <a:r>
              <a:rPr lang="de-DE" b="1" dirty="0"/>
              <a:t>Abhängigkeit</a:t>
            </a:r>
            <a:r>
              <a:rPr lang="de-DE" dirty="0"/>
              <a:t> zum Bezahldienst (er benötigt ihn nur in dem Moment, in dem die Methode bestellen aufgerufen wird).</a:t>
            </a:r>
          </a:p>
        </p:txBody>
      </p:sp>
    </p:spTree>
    <p:extLst>
      <p:ext uri="{BB962C8B-B14F-4D97-AF65-F5344CB8AC3E}">
        <p14:creationId xmlns:p14="http://schemas.microsoft.com/office/powerpoint/2010/main" val="3749786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E0AC8-5955-F640-9008-3A567783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Aggregation und Komposition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2DDBCF-E949-47A3-8CD2-CD2DDA26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Aggregation</a:t>
            </a:r>
            <a:r>
              <a:rPr lang="de-DE" dirty="0"/>
              <a:t> (</a:t>
            </a:r>
            <a:r>
              <a:rPr lang="de-DE" b="1" dirty="0"/>
              <a:t>schwache</a:t>
            </a:r>
            <a:r>
              <a:rPr lang="de-DE" dirty="0"/>
              <a:t> Teil-Ganzes-Beziehung)</a:t>
            </a:r>
            <a:endParaRPr lang="de-DE" b="1" dirty="0"/>
          </a:p>
          <a:p>
            <a:pPr lvl="1"/>
            <a:r>
              <a:rPr lang="de-DE" dirty="0"/>
              <a:t>Ein Objekt ist </a:t>
            </a:r>
            <a:r>
              <a:rPr lang="de-DE" b="1" dirty="0"/>
              <a:t>Teil eines Ganzen </a:t>
            </a:r>
            <a:r>
              <a:rPr lang="de-DE" dirty="0"/>
              <a:t>(„</a:t>
            </a:r>
            <a:r>
              <a:rPr lang="de-DE" b="1" dirty="0"/>
              <a:t>teil von </a:t>
            </a:r>
            <a:r>
              <a:rPr lang="de-DE" dirty="0"/>
              <a:t>Beziehung“)</a:t>
            </a:r>
          </a:p>
          <a:p>
            <a:pPr lvl="1"/>
            <a:r>
              <a:rPr lang="de-DE" dirty="0"/>
              <a:t>Der </a:t>
            </a:r>
            <a:r>
              <a:rPr lang="de-DE" b="1" dirty="0"/>
              <a:t>Teil kann aber unabhängig existieren! </a:t>
            </a:r>
            <a:r>
              <a:rPr lang="de-DE" dirty="0"/>
              <a:t>(z.B. Student)</a:t>
            </a:r>
          </a:p>
          <a:p>
            <a:pPr lvl="1"/>
            <a:r>
              <a:rPr lang="de-DE" dirty="0"/>
              <a:t>In der grafischen Darstellung einer Aggregation kennzeichnet eine </a:t>
            </a:r>
            <a:r>
              <a:rPr lang="de-DE" b="1" dirty="0"/>
              <a:t>nicht ausgefüllte Raute</a:t>
            </a:r>
            <a:r>
              <a:rPr lang="de-DE" dirty="0"/>
              <a:t> das Ende, das mit dem Ganzen verbunden ist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pic>
        <p:nvPicPr>
          <p:cNvPr id="5" name="Grafik 4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69CF7B4-34EE-0993-1B9F-DA6A98088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939" y="4212436"/>
            <a:ext cx="7082528" cy="182259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F7EFD41-5AB4-8A0C-963E-26AE5D94800E}"/>
              </a:ext>
            </a:extLst>
          </p:cNvPr>
          <p:cNvSpPr txBox="1"/>
          <p:nvPr/>
        </p:nvSpPr>
        <p:spPr>
          <a:xfrm>
            <a:off x="2071360" y="6311900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/>
              <a:t>https://upload.wikimedia.org/wikipedia/commons/thumb/f/f8/Komposition_Aggregation.svg/2560px-Komposition_Aggregation.svg.png</a:t>
            </a:r>
          </a:p>
        </p:txBody>
      </p:sp>
    </p:spTree>
    <p:extLst>
      <p:ext uri="{BB962C8B-B14F-4D97-AF65-F5344CB8AC3E}">
        <p14:creationId xmlns:p14="http://schemas.microsoft.com/office/powerpoint/2010/main" val="1444104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73D4D-F9E0-97D6-E2BB-BCDFD952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Aggregation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347BE2-695C-B8BD-52DE-D15F7724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b="1" dirty="0"/>
          </a:p>
          <a:p>
            <a:r>
              <a:rPr lang="de-DE" dirty="0"/>
              <a:t>Team ◇— Spieler</a:t>
            </a:r>
            <a:br>
              <a:rPr lang="de-DE" dirty="0"/>
            </a:br>
            <a:r>
              <a:rPr lang="de-DE" dirty="0"/>
              <a:t>→ Spieler können auch ohne Team existieren</a:t>
            </a:r>
          </a:p>
          <a:p>
            <a:r>
              <a:rPr lang="de-DE" dirty="0"/>
              <a:t>Bibliothek ◇— Buch</a:t>
            </a:r>
            <a:br>
              <a:rPr lang="de-DE" dirty="0"/>
            </a:br>
            <a:r>
              <a:rPr lang="de-DE" dirty="0"/>
              <a:t>→ Buch existiert auch ohne Bibliothek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325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FC378-7E9F-DCBC-4842-479FDB0B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Aggregation und Komposition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C48A3-90B1-EFA1-AADB-E882E85C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Komposition</a:t>
            </a:r>
            <a:r>
              <a:rPr lang="de-DE" dirty="0"/>
              <a:t> (</a:t>
            </a:r>
            <a:r>
              <a:rPr lang="de-DE" b="1" dirty="0"/>
              <a:t>starke</a:t>
            </a:r>
            <a:r>
              <a:rPr lang="de-DE" dirty="0"/>
              <a:t> Teil-Ganzes-Beziehung)</a:t>
            </a:r>
          </a:p>
          <a:p>
            <a:pPr lvl="1"/>
            <a:r>
              <a:rPr lang="de-DE" dirty="0"/>
              <a:t>Spezialfall der Aggregation</a:t>
            </a:r>
          </a:p>
          <a:p>
            <a:pPr lvl="1"/>
            <a:r>
              <a:rPr lang="de-DE" dirty="0"/>
              <a:t>Teil ist fester Bestandteil des Ganzen</a:t>
            </a:r>
          </a:p>
          <a:p>
            <a:pPr lvl="1"/>
            <a:r>
              <a:rPr lang="de-DE" dirty="0"/>
              <a:t>Teil existiert </a:t>
            </a:r>
            <a:r>
              <a:rPr lang="de-DE" b="1" dirty="0"/>
              <a:t>nicht</a:t>
            </a:r>
            <a:r>
              <a:rPr lang="de-DE" dirty="0"/>
              <a:t> ohne Ganzes!</a:t>
            </a:r>
          </a:p>
          <a:p>
            <a:pPr lvl="1"/>
            <a:r>
              <a:rPr lang="de-DE" b="1" dirty="0"/>
              <a:t>ausgefüllte Raute, </a:t>
            </a:r>
            <a:r>
              <a:rPr lang="de-DE" dirty="0"/>
              <a:t>kennzeichnet</a:t>
            </a:r>
            <a:r>
              <a:rPr lang="de-DE" b="1" dirty="0"/>
              <a:t> </a:t>
            </a:r>
            <a:r>
              <a:rPr lang="de-DE" dirty="0"/>
              <a:t>das Ende, das mit dem Ganzen verbunden ist.</a:t>
            </a:r>
          </a:p>
        </p:txBody>
      </p:sp>
      <p:pic>
        <p:nvPicPr>
          <p:cNvPr id="5" name="Grafik 4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A0C07C7-B7F1-2B44-D142-DCE43CD1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55" y="4390516"/>
            <a:ext cx="6972764" cy="201161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3E33A74-E090-9F96-FAE5-B189B76C8033}"/>
              </a:ext>
            </a:extLst>
          </p:cNvPr>
          <p:cNvSpPr txBox="1"/>
          <p:nvPr/>
        </p:nvSpPr>
        <p:spPr>
          <a:xfrm>
            <a:off x="2643734" y="6492875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/>
              <a:t>https://upload.wikimedia.org/wikipedia/commons/thumb/f/f8/Komposition_Aggregation.svg/2560px-Komposition_Aggregation.svg.png</a:t>
            </a:r>
          </a:p>
        </p:txBody>
      </p:sp>
    </p:spTree>
    <p:extLst>
      <p:ext uri="{BB962C8B-B14F-4D97-AF65-F5344CB8AC3E}">
        <p14:creationId xmlns:p14="http://schemas.microsoft.com/office/powerpoint/2010/main" val="307809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AED45-CEC8-6771-2ED6-6A6B1F15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Komposition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84ED8-C6BE-648E-C8C0-3F998DCAA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Beispiel</a:t>
            </a:r>
          </a:p>
          <a:p>
            <a:r>
              <a:rPr lang="de-DE" dirty="0"/>
              <a:t>Haus ◆— Raum</a:t>
            </a:r>
            <a:br>
              <a:rPr lang="de-DE" dirty="0"/>
            </a:br>
            <a:r>
              <a:rPr lang="de-DE" dirty="0"/>
              <a:t>→ Wird das Haus zerstört, verschwinden die Räume</a:t>
            </a:r>
          </a:p>
          <a:p>
            <a:r>
              <a:rPr lang="de-DE" dirty="0"/>
              <a:t>Bestellung ◆— Bestellposition</a:t>
            </a:r>
            <a:br>
              <a:rPr lang="de-DE" dirty="0"/>
            </a:br>
            <a:r>
              <a:rPr lang="de-DE" dirty="0"/>
              <a:t>→ Position gehört genau zu einer Bestellung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6339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3572F-6260-0926-E42A-704B51BD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B603C-0B54-B410-984F-08F047482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Objektdiagramm ist eine Spezifizierung des Klassendiagramms es stellt die Beziehung der tatsächlich erzeugten Diagramme zu einem bestimmten Zeitpunkt der Laufzeit dar.</a:t>
            </a: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50C45B52-9FD7-E5F7-1313-E153D352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145" y="3540556"/>
            <a:ext cx="6521123" cy="221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50D2DF0-0D09-A1D1-5648-F246FA785D29}"/>
              </a:ext>
            </a:extLst>
          </p:cNvPr>
          <p:cNvSpPr txBox="1"/>
          <p:nvPr/>
        </p:nvSpPr>
        <p:spPr>
          <a:xfrm>
            <a:off x="2335145" y="6070181"/>
            <a:ext cx="60972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https://de.wikipedia.org/wiki/Objektdiagramm#/media/Datei:UmlOd-Beispiel-1.svg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User:Stkl (page does not exist)"/>
              </a:rPr>
              <a:t>Stkl</a:t>
            </a:r>
            <a:r>
              <a:rPr lang="de-DE" sz="800" dirty="0"/>
              <a:t> - </a:t>
            </a:r>
            <a:r>
              <a:rPr lang="de-DE" sz="800" dirty="0" err="1"/>
              <a:t>Redrawn</a:t>
            </a:r>
            <a:r>
              <a:rPr lang="de-DE" sz="800" dirty="0"/>
              <a:t> in SVG, original PNG </a:t>
            </a:r>
            <a:r>
              <a:rPr lang="de-DE" sz="800" dirty="0">
                <a:hlinkClick r:id="rId5" tooltip="File:Instance specification 3.png"/>
              </a:rPr>
              <a:t>Instance </a:t>
            </a:r>
            <a:r>
              <a:rPr lang="de-DE" sz="800" dirty="0" err="1">
                <a:hlinkClick r:id="rId5" tooltip="File:Instance specification 3.png"/>
              </a:rPr>
              <a:t>specification</a:t>
            </a:r>
            <a:r>
              <a:rPr lang="de-DE" sz="800" dirty="0">
                <a:hlinkClick r:id="rId5" tooltip="File:Instance specification 3.png"/>
              </a:rPr>
              <a:t> 3.png</a:t>
            </a:r>
            <a:r>
              <a:rPr lang="de-DE" sz="800" dirty="0"/>
              <a:t> </a:t>
            </a:r>
            <a:r>
              <a:rPr lang="de-DE" sz="800" dirty="0" err="1"/>
              <a:t>by</a:t>
            </a:r>
            <a:r>
              <a:rPr lang="de-DE" sz="800" dirty="0"/>
              <a:t> </a:t>
            </a:r>
            <a:r>
              <a:rPr lang="de-DE" sz="800" dirty="0" err="1">
                <a:hlinkClick r:id="rId6" tooltip="User:Gubaer (page does not exist)"/>
              </a:rPr>
              <a:t>Gubaer</a:t>
            </a:r>
            <a:endParaRPr lang="de-DE" sz="800" dirty="0"/>
          </a:p>
          <a:p>
            <a:r>
              <a:rPr lang="de-DE" sz="800" dirty="0">
                <a:hlinkClick r:id="rId7"/>
              </a:rPr>
              <a:t>CC BY-SA 3.0</a:t>
            </a:r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0332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92AA0-3802-07BD-C0A5-70D1C451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 (Verhalten / Interaktion)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15E08-1D58-51B7-982C-4B1619EE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63773" cy="4351338"/>
          </a:xfrm>
        </p:spPr>
        <p:txBody>
          <a:bodyPr>
            <a:normAutofit lnSpcReduction="10000"/>
          </a:bodyPr>
          <a:lstStyle/>
          <a:p>
            <a:r>
              <a:rPr lang="de-DE" b="1" dirty="0"/>
              <a:t>Zweck:</a:t>
            </a:r>
            <a:br>
              <a:rPr lang="de-DE" dirty="0"/>
            </a:br>
            <a:r>
              <a:rPr lang="de-DE" dirty="0"/>
              <a:t>Zeigt den zeitlichen Ablauf von Nachrichten zwischen Objekten. Ideal, um zu verstehen, wie Objekte miteinander kommunizieren, um eine Aufgabe zu erfüllen.</a:t>
            </a:r>
          </a:p>
          <a:p>
            <a:r>
              <a:rPr lang="de-DE" b="1" dirty="0"/>
              <a:t>Elemente:</a:t>
            </a:r>
            <a:endParaRPr lang="de-DE" dirty="0"/>
          </a:p>
          <a:p>
            <a:pPr lvl="1"/>
            <a:r>
              <a:rPr lang="de-DE" b="1" dirty="0"/>
              <a:t>Lebenslinie:</a:t>
            </a:r>
            <a:r>
              <a:rPr lang="de-DE" dirty="0"/>
              <a:t> Gestrichelte vertikale Linie.</a:t>
            </a:r>
          </a:p>
          <a:p>
            <a:pPr lvl="1"/>
            <a:r>
              <a:rPr lang="de-DE" b="1" dirty="0"/>
              <a:t>Aktivierungsbalken:</a:t>
            </a:r>
            <a:r>
              <a:rPr lang="de-DE" dirty="0"/>
              <a:t> Zeigt an, wann ein Objekt aktiv arbeitet.</a:t>
            </a:r>
          </a:p>
          <a:p>
            <a:pPr lvl="1"/>
            <a:r>
              <a:rPr lang="de-DE" b="1" dirty="0"/>
              <a:t>Nachrichten:</a:t>
            </a:r>
            <a:r>
              <a:rPr lang="de-DE" dirty="0"/>
              <a:t> Pfeile (durchgezogen = Aufruf, gestrichelt = Antwort).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A8A25A-408D-FD2F-1AF8-695ABC4C5F14}"/>
              </a:ext>
            </a:extLst>
          </p:cNvPr>
          <p:cNvSpPr txBox="1"/>
          <p:nvPr/>
        </p:nvSpPr>
        <p:spPr>
          <a:xfrm>
            <a:off x="8543787" y="6154321"/>
            <a:ext cx="3603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2"/>
              </a:rPr>
              <a:t>https://de.wikipedia.org/wiki/Sequenzdiagramm#/media/Datei:UmlSequenzdiagramm-2.svg</a:t>
            </a:r>
            <a:r>
              <a:rPr lang="de-DE" sz="800" dirty="0"/>
              <a:t> </a:t>
            </a:r>
            <a:r>
              <a:rPr lang="de-DE" sz="800" dirty="0">
                <a:hlinkClick r:id="rId3"/>
              </a:rPr>
              <a:t>CC BY-SA 3.0</a:t>
            </a:r>
            <a:endParaRPr lang="de-DE" sz="800" dirty="0"/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0199D2F5-8796-57D0-3792-8DB56CB7C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583" y="2991604"/>
            <a:ext cx="3779911" cy="332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69C5677-7218-E4F3-DD61-CB35E20813EB}"/>
              </a:ext>
            </a:extLst>
          </p:cNvPr>
          <p:cNvGrpSpPr/>
          <p:nvPr/>
        </p:nvGrpSpPr>
        <p:grpSpPr>
          <a:xfrm>
            <a:off x="11865941" y="3182878"/>
            <a:ext cx="129240" cy="2903400"/>
            <a:chOff x="11865941" y="3182878"/>
            <a:chExt cx="129240" cy="29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Freihand 3">
                  <a:extLst>
                    <a:ext uri="{FF2B5EF4-FFF2-40B4-BE49-F238E27FC236}">
                      <a16:creationId xmlns:a16="http://schemas.microsoft.com/office/drawing/2014/main" id="{D57FCFF2-BB1B-7899-E595-93E8F04783B0}"/>
                    </a:ext>
                  </a:extLst>
                </p14:cNvPr>
                <p14:cNvContentPartPr/>
                <p14:nvPr/>
              </p14:nvContentPartPr>
              <p14:xfrm>
                <a:off x="11900141" y="3182878"/>
                <a:ext cx="71280" cy="2854800"/>
              </p14:xfrm>
            </p:contentPart>
          </mc:Choice>
          <mc:Fallback xmlns="">
            <p:pic>
              <p:nvPicPr>
                <p:cNvPr id="4" name="Freihand 3">
                  <a:extLst>
                    <a:ext uri="{FF2B5EF4-FFF2-40B4-BE49-F238E27FC236}">
                      <a16:creationId xmlns:a16="http://schemas.microsoft.com/office/drawing/2014/main" id="{D57FCFF2-BB1B-7899-E595-93E8F04783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894021" y="3176758"/>
                  <a:ext cx="83520" cy="28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Freihand 6">
                  <a:extLst>
                    <a:ext uri="{FF2B5EF4-FFF2-40B4-BE49-F238E27FC236}">
                      <a16:creationId xmlns:a16="http://schemas.microsoft.com/office/drawing/2014/main" id="{A06CEB52-C286-1B1C-262E-4A80499B6361}"/>
                    </a:ext>
                  </a:extLst>
                </p14:cNvPr>
                <p14:cNvContentPartPr/>
                <p14:nvPr/>
              </p14:nvContentPartPr>
              <p14:xfrm>
                <a:off x="11865941" y="6016078"/>
                <a:ext cx="129240" cy="70200"/>
              </p14:xfrm>
            </p:contentPart>
          </mc:Choice>
          <mc:Fallback xmlns="">
            <p:pic>
              <p:nvPicPr>
                <p:cNvPr id="7" name="Freihand 6">
                  <a:extLst>
                    <a:ext uri="{FF2B5EF4-FFF2-40B4-BE49-F238E27FC236}">
                      <a16:creationId xmlns:a16="http://schemas.microsoft.com/office/drawing/2014/main" id="{A06CEB52-C286-1B1C-262E-4A80499B63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59821" y="6009958"/>
                  <a:ext cx="14148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00FE54B-967C-7D2F-2C74-E3699BE35DE2}"/>
              </a:ext>
            </a:extLst>
          </p:cNvPr>
          <p:cNvGrpSpPr/>
          <p:nvPr/>
        </p:nvGrpSpPr>
        <p:grpSpPr>
          <a:xfrm>
            <a:off x="11503061" y="4195198"/>
            <a:ext cx="379800" cy="390600"/>
            <a:chOff x="11503061" y="4195198"/>
            <a:chExt cx="37980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4D95C620-7E3B-E40B-134E-AB2E180977D5}"/>
                    </a:ext>
                  </a:extLst>
                </p14:cNvPr>
                <p14:cNvContentPartPr/>
                <p14:nvPr/>
              </p14:nvContentPartPr>
              <p14:xfrm>
                <a:off x="11503061" y="4195198"/>
                <a:ext cx="123120" cy="25920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4D95C620-7E3B-E40B-134E-AB2E180977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496941" y="4189078"/>
                  <a:ext cx="135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D4DB67A0-FD93-FB06-A0C3-52A894F66FB8}"/>
                    </a:ext>
                  </a:extLst>
                </p14:cNvPr>
                <p14:cNvContentPartPr/>
                <p14:nvPr/>
              </p14:nvContentPartPr>
              <p14:xfrm>
                <a:off x="11510261" y="4313278"/>
                <a:ext cx="132120" cy="612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D4DB67A0-FD93-FB06-A0C3-52A894F66F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04141" y="4307158"/>
                  <a:ext cx="1443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64BC35C9-A8F5-3DDF-48E8-83594B32E104}"/>
                    </a:ext>
                  </a:extLst>
                </p14:cNvPr>
                <p14:cNvContentPartPr/>
                <p14:nvPr/>
              </p14:nvContentPartPr>
              <p14:xfrm>
                <a:off x="11635541" y="4452598"/>
                <a:ext cx="37080" cy="2160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64BC35C9-A8F5-3DDF-48E8-83594B32E1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29421" y="4446478"/>
                  <a:ext cx="49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3C909D89-A300-A231-34A9-ED5E134D2A7E}"/>
                    </a:ext>
                  </a:extLst>
                </p14:cNvPr>
                <p14:cNvContentPartPr/>
                <p14:nvPr/>
              </p14:nvContentPartPr>
              <p14:xfrm>
                <a:off x="11641661" y="4336318"/>
                <a:ext cx="115920" cy="23688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3C909D89-A300-A231-34A9-ED5E134D2A7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5541" y="4330198"/>
                  <a:ext cx="128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5FDB8D94-9C0C-BA4D-5EDD-D435DF014B0C}"/>
                    </a:ext>
                  </a:extLst>
                </p14:cNvPr>
                <p14:cNvContentPartPr/>
                <p14:nvPr/>
              </p14:nvContentPartPr>
              <p14:xfrm>
                <a:off x="11782061" y="4383478"/>
                <a:ext cx="7200" cy="13968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FDB8D94-9C0C-BA4D-5EDD-D435DF014B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775941" y="4377358"/>
                  <a:ext cx="19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0E504A48-6F3E-289B-A5C6-AF872960E43C}"/>
                    </a:ext>
                  </a:extLst>
                </p14:cNvPr>
                <p14:cNvContentPartPr/>
                <p14:nvPr/>
              </p14:nvContentPartPr>
              <p14:xfrm>
                <a:off x="11775221" y="4236598"/>
                <a:ext cx="360" cy="36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0E504A48-6F3E-289B-A5C6-AF872960E4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769101" y="423047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ACAEB3F3-43A8-6A60-D989-2B2527CDE646}"/>
                    </a:ext>
                  </a:extLst>
                </p14:cNvPr>
                <p14:cNvContentPartPr/>
                <p14:nvPr/>
              </p14:nvContentPartPr>
              <p14:xfrm>
                <a:off x="11851541" y="4236598"/>
                <a:ext cx="19080" cy="349200"/>
              </p14:xfrm>
            </p:contentPart>
          </mc:Choice>
          <mc:Fallback xmlns=""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ACAEB3F3-43A8-6A60-D989-2B2527CDE6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845421" y="4230478"/>
                  <a:ext cx="313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C91E4A22-6CAA-B384-EFE3-BA4813DC85E0}"/>
                    </a:ext>
                  </a:extLst>
                </p14:cNvPr>
                <p14:cNvContentPartPr/>
                <p14:nvPr/>
              </p14:nvContentPartPr>
              <p14:xfrm>
                <a:off x="11810141" y="4299598"/>
                <a:ext cx="72720" cy="36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C91E4A22-6CAA-B384-EFE3-BA4813DC85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804021" y="4293478"/>
                  <a:ext cx="8496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5186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73391-0D4A-A7BE-E87B-342F765AB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</a:t>
            </a:r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CB30746-4C82-DED6-BE8A-73BD2CA1C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5103"/>
            <a:ext cx="4322899" cy="4029198"/>
          </a:xfrm>
          <a:prstGeom prst="rect">
            <a:avLst/>
          </a:prstGeom>
        </p:spPr>
      </p:pic>
      <p:pic>
        <p:nvPicPr>
          <p:cNvPr id="7" name="Grafik 6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F4C5C1C9-61F8-BFCE-37CF-ADA61DAF3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7" y="2035103"/>
            <a:ext cx="5948575" cy="406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13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06EE-67F2-A225-6F58-14D576BB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 Aufgabe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1C2B1-4FCE-1171-17DF-2DD61E18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Szenario:</a:t>
            </a:r>
            <a:r>
              <a:rPr lang="de-DE" dirty="0"/>
              <a:t> Ein Benutzer loggt sich auf einer Webseite ein.</a:t>
            </a:r>
            <a:br>
              <a:rPr lang="de-DE" dirty="0"/>
            </a:br>
            <a:r>
              <a:rPr lang="de-DE" b="1" dirty="0"/>
              <a:t>Ablauf:</a:t>
            </a:r>
            <a:endParaRPr lang="de-DE" dirty="0"/>
          </a:p>
          <a:p>
            <a:pPr lvl="1"/>
            <a:r>
              <a:rPr lang="de-DE" dirty="0"/>
              <a:t>Benutzer gibt Daten ein.</a:t>
            </a:r>
          </a:p>
          <a:p>
            <a:pPr lvl="1"/>
            <a:r>
              <a:rPr lang="de-DE" dirty="0" err="1"/>
              <a:t>WebPage</a:t>
            </a:r>
            <a:r>
              <a:rPr lang="de-DE" dirty="0"/>
              <a:t> sendet Daten an Database.</a:t>
            </a:r>
          </a:p>
          <a:p>
            <a:pPr lvl="1"/>
            <a:r>
              <a:rPr lang="de-DE" dirty="0"/>
              <a:t>Database validiert und sendet "OK" zurück.</a:t>
            </a:r>
          </a:p>
          <a:p>
            <a:pPr lvl="1"/>
            <a:r>
              <a:rPr lang="de-DE" dirty="0" err="1"/>
              <a:t>WebPage</a:t>
            </a:r>
            <a:r>
              <a:rPr lang="de-DE" dirty="0"/>
              <a:t> zeigt "Willkommen".</a:t>
            </a:r>
          </a:p>
          <a:p>
            <a:r>
              <a:rPr lang="de-DE" dirty="0"/>
              <a:t>Erstellen Sie ein Sequenzdiagramm des Ablaufs.</a:t>
            </a:r>
          </a:p>
        </p:txBody>
      </p:sp>
    </p:spTree>
    <p:extLst>
      <p:ext uri="{BB962C8B-B14F-4D97-AF65-F5344CB8AC3E}">
        <p14:creationId xmlns:p14="http://schemas.microsoft.com/office/powerpoint/2010/main" val="330089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4CA36-A05E-9A45-E266-49A247C5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 Sequenzdiagramm Aufgabe </a:t>
            </a:r>
          </a:p>
        </p:txBody>
      </p:sp>
      <p:pic>
        <p:nvPicPr>
          <p:cNvPr id="5" name="Inhaltsplatzhalter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9AF1E04-02A8-F37D-1B67-9575C670B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7918" y="1825625"/>
            <a:ext cx="6896163" cy="435133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AC86FC4-3259-9F76-ED48-418E3E78B6FE}"/>
              </a:ext>
            </a:extLst>
          </p:cNvPr>
          <p:cNvSpPr/>
          <p:nvPr/>
        </p:nvSpPr>
        <p:spPr>
          <a:xfrm>
            <a:off x="5751646" y="3371414"/>
            <a:ext cx="125643" cy="453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167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D7454-D4EF-BC51-A7C3-6D43FB08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 (Nachrichten/Messages)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1614FF-E5DE-9BF1-15E5-A7FAC5CCF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535238" cy="4876927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Nachrichten (häufig Methodenaufrufe) werden als Pfeile</a:t>
            </a:r>
          </a:p>
          <a:p>
            <a:pPr marL="0" indent="0">
              <a:buNone/>
            </a:pPr>
            <a:r>
              <a:rPr lang="de-DE" dirty="0"/>
              <a:t>   zwischen den Lebenslinien dargestellt.</a:t>
            </a:r>
          </a:p>
          <a:p>
            <a:r>
              <a:rPr lang="de-DE" dirty="0"/>
              <a:t>Wir unterscheiden:</a:t>
            </a:r>
          </a:p>
          <a:p>
            <a:pPr lvl="1"/>
            <a:r>
              <a:rPr lang="de-DE" b="1" dirty="0"/>
              <a:t>Synchrone</a:t>
            </a:r>
            <a:r>
              <a:rPr lang="de-DE" dirty="0"/>
              <a:t> Nachricht:</a:t>
            </a:r>
          </a:p>
          <a:p>
            <a:pPr lvl="2"/>
            <a:r>
              <a:rPr lang="de-DE" dirty="0"/>
              <a:t>Symbol: durchgezogene Linie mit </a:t>
            </a:r>
            <a:r>
              <a:rPr lang="de-DE" b="1" dirty="0"/>
              <a:t>gefüllter Pfeilspitze</a:t>
            </a:r>
          </a:p>
          <a:p>
            <a:pPr lvl="2"/>
            <a:r>
              <a:rPr lang="de-DE" b="1" dirty="0"/>
              <a:t>Bedeutung:</a:t>
            </a:r>
            <a:r>
              <a:rPr lang="de-DE" dirty="0"/>
              <a:t> Der Sender wartet, bis der Empfänger die Nachricht verarbeitet und eine Antwort zurückgesendet hat (blockierender Aufruf)</a:t>
            </a:r>
          </a:p>
          <a:p>
            <a:pPr lvl="2"/>
            <a:r>
              <a:rPr lang="de-DE" b="1" dirty="0"/>
              <a:t>Beispiel:</a:t>
            </a:r>
            <a:r>
              <a:rPr lang="de-DE" dirty="0"/>
              <a:t> Ein Funktionsaufruf </a:t>
            </a:r>
            <a:r>
              <a:rPr lang="de-DE" dirty="0" err="1"/>
              <a:t>getUser</a:t>
            </a:r>
            <a:r>
              <a:rPr lang="de-DE" dirty="0"/>
              <a:t>(</a:t>
            </a:r>
            <a:r>
              <a:rPr lang="de-DE" dirty="0" err="1"/>
              <a:t>id</a:t>
            </a:r>
            <a:r>
              <a:rPr lang="de-DE" dirty="0"/>
              <a:t>)</a:t>
            </a:r>
            <a:endParaRPr lang="de-DE" b="1" dirty="0"/>
          </a:p>
          <a:p>
            <a:pPr lvl="1"/>
            <a:r>
              <a:rPr lang="de-DE" b="1" dirty="0"/>
              <a:t>Asynchrone</a:t>
            </a:r>
            <a:r>
              <a:rPr lang="de-DE" dirty="0"/>
              <a:t> Nachricht:</a:t>
            </a:r>
          </a:p>
          <a:p>
            <a:pPr lvl="2"/>
            <a:r>
              <a:rPr lang="de-DE" b="1" dirty="0"/>
              <a:t>Symbol:</a:t>
            </a:r>
            <a:r>
              <a:rPr lang="de-DE" dirty="0"/>
              <a:t> Durchgezogene Linie mit </a:t>
            </a:r>
            <a:r>
              <a:rPr lang="de-DE" b="1" dirty="0"/>
              <a:t>offener</a:t>
            </a:r>
            <a:r>
              <a:rPr lang="de-DE" dirty="0"/>
              <a:t> </a:t>
            </a:r>
            <a:r>
              <a:rPr lang="de-DE" b="1" dirty="0"/>
              <a:t>Pfeilspitze</a:t>
            </a:r>
            <a:r>
              <a:rPr lang="de-DE" dirty="0"/>
              <a:t>.</a:t>
            </a:r>
          </a:p>
          <a:p>
            <a:pPr lvl="2"/>
            <a:r>
              <a:rPr lang="de-DE" b="1" dirty="0"/>
              <a:t>Bedeutung:</a:t>
            </a:r>
            <a:r>
              <a:rPr lang="de-DE" dirty="0"/>
              <a:t> Der Sender sendet die Nachricht und arbeitet sofort weiter, ohne auf eine Antwort zu warten (nicht-blockierend).</a:t>
            </a:r>
          </a:p>
          <a:p>
            <a:pPr lvl="2"/>
            <a:r>
              <a:rPr lang="de-DE" b="1" dirty="0"/>
              <a:t>Beispiel:</a:t>
            </a:r>
            <a:r>
              <a:rPr lang="de-DE" dirty="0"/>
              <a:t> Senden einer E-Mail in einem Hintergrundprozess oder Event-Trigger.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AF5BCD70-31D9-4F37-1444-D584820E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901" y="2202063"/>
            <a:ext cx="4469627" cy="412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695BBC6-4523-EFDC-A129-AF9BBA8C0564}"/>
              </a:ext>
            </a:extLst>
          </p:cNvPr>
          <p:cNvSpPr txBox="1"/>
          <p:nvPr/>
        </p:nvSpPr>
        <p:spPr>
          <a:xfrm>
            <a:off x="6772108" y="6594829"/>
            <a:ext cx="6210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https://de.wikipedia.org/wiki/Sequenzdiagramm#/media/Datei:UmlSequenzdiagramm-3.svg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r>
              <a:rPr lang="de-DE" sz="800" dirty="0"/>
              <a:t> </a:t>
            </a:r>
            <a:r>
              <a:rPr lang="de-DE" sz="800" dirty="0" err="1">
                <a:hlinkClick r:id="rId5" tooltip="de:Benutzer:Gubaer"/>
              </a:rPr>
              <a:t>Gubaer</a:t>
            </a:r>
            <a:r>
              <a:rPr lang="de-DE" sz="800" dirty="0"/>
              <a:t> </a:t>
            </a:r>
            <a:r>
              <a:rPr lang="de-DE" sz="800" dirty="0" err="1">
                <a:hlinkClick r:id="rId6" tooltip="User:Stkl (page does not exist)"/>
              </a:rPr>
              <a:t>Stkl</a:t>
            </a:r>
            <a:r>
              <a:rPr lang="de-DE" sz="8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8678F262-4938-468B-9B90-B6F4000A4963}"/>
                  </a:ext>
                </a:extLst>
              </p14:cNvPr>
              <p14:cNvContentPartPr/>
              <p14:nvPr/>
            </p14:nvContentPartPr>
            <p14:xfrm>
              <a:off x="8634221" y="6058558"/>
              <a:ext cx="237960" cy="24552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8678F262-4938-468B-9B90-B6F4000A49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28101" y="6052438"/>
                <a:ext cx="25020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0D392DA-42DE-1A42-B7B4-15A2CDD8EF13}"/>
              </a:ext>
            </a:extLst>
          </p:cNvPr>
          <p:cNvGrpSpPr/>
          <p:nvPr/>
        </p:nvGrpSpPr>
        <p:grpSpPr>
          <a:xfrm>
            <a:off x="8529461" y="5908078"/>
            <a:ext cx="380880" cy="374400"/>
            <a:chOff x="8529461" y="5908078"/>
            <a:chExt cx="38088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9BD16FDF-29ED-F241-0867-3EC6D146D13C}"/>
                    </a:ext>
                  </a:extLst>
                </p14:cNvPr>
                <p14:cNvContentPartPr/>
                <p14:nvPr/>
              </p14:nvContentPartPr>
              <p14:xfrm>
                <a:off x="8613341" y="5908078"/>
                <a:ext cx="297000" cy="37440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9BD16FDF-29ED-F241-0867-3EC6D146D1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07221" y="5901958"/>
                  <a:ext cx="3092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42A67A4F-B46D-DFCF-D765-9E75E7F6B6AF}"/>
                    </a:ext>
                  </a:extLst>
                </p14:cNvPr>
                <p14:cNvContentPartPr/>
                <p14:nvPr/>
              </p14:nvContentPartPr>
              <p14:xfrm>
                <a:off x="8529461" y="5932918"/>
                <a:ext cx="172080" cy="19152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42A67A4F-B46D-DFCF-D765-9E75E7F6B6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23341" y="5926798"/>
                  <a:ext cx="184320" cy="20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4787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D4642-AB2C-48C0-1EC6-6BE815CC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 (Nachrichten/Messages)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7F011A-9D5C-19D1-C12B-DDC60BFDC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err="1"/>
              <a:t>Anwortnachricht</a:t>
            </a:r>
            <a:r>
              <a:rPr lang="de-DE" b="1" dirty="0"/>
              <a:t> (Return Message)</a:t>
            </a:r>
          </a:p>
          <a:p>
            <a:pPr lvl="1"/>
            <a:r>
              <a:rPr lang="de-DE" b="1" dirty="0"/>
              <a:t>Symbol</a:t>
            </a:r>
            <a:r>
              <a:rPr lang="de-DE" dirty="0"/>
              <a:t>: Gestrichelte Linie mit offener oder geschlossener Pfeilspitze.</a:t>
            </a:r>
          </a:p>
          <a:p>
            <a:pPr lvl="1"/>
            <a:r>
              <a:rPr lang="de-DE" b="1" dirty="0"/>
              <a:t>Bedeutung:</a:t>
            </a:r>
            <a:r>
              <a:rPr lang="de-DE" dirty="0"/>
              <a:t> Die Rückgabe der Kontrolle oder eines Wertes an den ursprünglichen Aufrufer</a:t>
            </a:r>
          </a:p>
          <a:p>
            <a:pPr lvl="1"/>
            <a:endParaRPr lang="de-DE" dirty="0"/>
          </a:p>
          <a:p>
            <a:r>
              <a:rPr lang="de-DE" b="1" dirty="0"/>
              <a:t>Selbstaufruf (Self Message)</a:t>
            </a:r>
          </a:p>
          <a:p>
            <a:pPr lvl="1"/>
            <a:r>
              <a:rPr lang="de-DE" b="1" dirty="0"/>
              <a:t>Symbol:</a:t>
            </a:r>
            <a:r>
              <a:rPr lang="de-DE" dirty="0"/>
              <a:t> Ein Pfeil, der die Lebenslinie verlässt und wieder auf dieselbe zurückkehrt.</a:t>
            </a:r>
          </a:p>
          <a:p>
            <a:pPr lvl="1"/>
            <a:r>
              <a:rPr lang="de-DE" b="1" dirty="0"/>
              <a:t>Bedeutung:</a:t>
            </a:r>
            <a:r>
              <a:rPr lang="de-DE" dirty="0"/>
              <a:t> Ein Objekt ruft eine eigene Methode auf (interne Verarbeitung)</a:t>
            </a:r>
            <a:endParaRPr lang="de-DE" b="1" dirty="0"/>
          </a:p>
          <a:p>
            <a:pPr lvl="1"/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0539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3D9B1-5510-26F2-C011-279929FC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 (Nachrichten/Messages)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CD000E-F4A1-4312-4BFA-B7D541241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Erzeugung &amp; Zerstörung (</a:t>
            </a:r>
            <a:r>
              <a:rPr lang="de-DE" b="1" dirty="0" err="1"/>
              <a:t>Creation</a:t>
            </a:r>
            <a:r>
              <a:rPr lang="de-DE" b="1" dirty="0"/>
              <a:t> &amp; </a:t>
            </a:r>
            <a:r>
              <a:rPr lang="de-DE" b="1" dirty="0" err="1"/>
              <a:t>Destruction</a:t>
            </a:r>
            <a:r>
              <a:rPr lang="de-DE" b="1" dirty="0"/>
              <a:t>)</a:t>
            </a:r>
          </a:p>
          <a:p>
            <a:pPr lvl="1"/>
            <a:r>
              <a:rPr lang="de-DE" b="1" dirty="0"/>
              <a:t>Erzeugung (Create):</a:t>
            </a:r>
            <a:r>
              <a:rPr lang="de-DE" dirty="0"/>
              <a:t> Ein Pfeil mit der Beschriftung «</a:t>
            </a:r>
            <a:r>
              <a:rPr lang="de-DE" dirty="0" err="1"/>
              <a:t>create</a:t>
            </a:r>
            <a:r>
              <a:rPr lang="de-DE" dirty="0"/>
              <a:t>», der auf den Kopf einer </a:t>
            </a:r>
            <a:r>
              <a:rPr lang="de-DE" i="1" dirty="0"/>
              <a:t>neuen</a:t>
            </a:r>
            <a:r>
              <a:rPr lang="de-DE" dirty="0"/>
              <a:t> Lebenslinie zeigt (diese beginnt erst an dieser vertikalen Position)</a:t>
            </a:r>
          </a:p>
          <a:p>
            <a:pPr lvl="1"/>
            <a:r>
              <a:rPr lang="de-DE" b="1" dirty="0"/>
              <a:t>Zerstörung (</a:t>
            </a:r>
            <a:r>
              <a:rPr lang="de-DE" b="1" dirty="0" err="1"/>
              <a:t>Destroy</a:t>
            </a:r>
            <a:r>
              <a:rPr lang="de-DE" b="1" dirty="0"/>
              <a:t>):</a:t>
            </a:r>
            <a:r>
              <a:rPr lang="de-DE" dirty="0"/>
              <a:t> Ein großes </a:t>
            </a:r>
            <a:r>
              <a:rPr lang="de-DE" b="1" dirty="0"/>
              <a:t>X</a:t>
            </a:r>
            <a:r>
              <a:rPr lang="de-DE" dirty="0"/>
              <a:t> am Ende der Lebenslinie. Das Objekt wird aus dem Speicher entfernt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1A31B99B-519C-897C-D10C-239BB9DBAAE6}"/>
                  </a:ext>
                </a:extLst>
              </p14:cNvPr>
              <p14:cNvContentPartPr/>
              <p14:nvPr/>
            </p14:nvContentPartPr>
            <p14:xfrm>
              <a:off x="6721750" y="4199878"/>
              <a:ext cx="764640" cy="49536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1A31B99B-519C-897C-D10C-239BB9DBAA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4110" y="4182238"/>
                <a:ext cx="80028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AAE0B12D-6393-C978-7673-658EC86A3534}"/>
                  </a:ext>
                </a:extLst>
              </p14:cNvPr>
              <p14:cNvContentPartPr/>
              <p14:nvPr/>
            </p14:nvContentPartPr>
            <p14:xfrm>
              <a:off x="8700670" y="4713958"/>
              <a:ext cx="1083960" cy="481320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AAE0B12D-6393-C978-7673-658EC86A35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3030" y="4695958"/>
                <a:ext cx="111960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4303DD32-A222-DFA0-FB05-00B2BA965BCF}"/>
                  </a:ext>
                </a:extLst>
              </p14:cNvPr>
              <p14:cNvContentPartPr/>
              <p14:nvPr/>
            </p14:nvContentPartPr>
            <p14:xfrm>
              <a:off x="7070950" y="4711438"/>
              <a:ext cx="360" cy="1386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4303DD32-A222-DFA0-FB05-00B2BA965B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52950" y="4693798"/>
                <a:ext cx="360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A76954BB-106B-C882-3139-1F7C6A1E00B0}"/>
                  </a:ext>
                </a:extLst>
              </p14:cNvPr>
              <p14:cNvContentPartPr/>
              <p14:nvPr/>
            </p14:nvContentPartPr>
            <p14:xfrm>
              <a:off x="7035670" y="5779198"/>
              <a:ext cx="360" cy="22284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A76954BB-106B-C882-3139-1F7C6A1E00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7670" y="5761558"/>
                <a:ext cx="36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C008A736-B7FE-179E-B444-978EB7CA6A9D}"/>
                  </a:ext>
                </a:extLst>
              </p14:cNvPr>
              <p14:cNvContentPartPr/>
              <p14:nvPr/>
            </p14:nvContentPartPr>
            <p14:xfrm>
              <a:off x="7015150" y="6330718"/>
              <a:ext cx="360" cy="2012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C008A736-B7FE-179E-B444-978EB7CA6A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97150" y="6313078"/>
                <a:ext cx="3600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3A03C5E-75D6-68FE-B2CA-8F3F15ACAF0B}"/>
              </a:ext>
            </a:extLst>
          </p:cNvPr>
          <p:cNvGrpSpPr/>
          <p:nvPr/>
        </p:nvGrpSpPr>
        <p:grpSpPr>
          <a:xfrm>
            <a:off x="7049710" y="5039758"/>
            <a:ext cx="2164680" cy="560520"/>
            <a:chOff x="7049710" y="5039758"/>
            <a:chExt cx="2164680" cy="56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C46CA57E-377D-0B01-109D-30CB856A0B81}"/>
                    </a:ext>
                  </a:extLst>
                </p14:cNvPr>
                <p14:cNvContentPartPr/>
                <p14:nvPr/>
              </p14:nvContentPartPr>
              <p14:xfrm>
                <a:off x="7056550" y="5039758"/>
                <a:ext cx="14400" cy="18180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C46CA57E-377D-0B01-109D-30CB856A0B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38910" y="5021758"/>
                  <a:ext cx="50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754A27F9-2F89-624B-AD05-B6A48E0D1501}"/>
                    </a:ext>
                  </a:extLst>
                </p14:cNvPr>
                <p14:cNvContentPartPr/>
                <p14:nvPr/>
              </p14:nvContentPartPr>
              <p14:xfrm>
                <a:off x="7049710" y="5381398"/>
                <a:ext cx="7200" cy="18036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754A27F9-2F89-624B-AD05-B6A48E0D15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31710" y="5363758"/>
                  <a:ext cx="42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714DA970-A25B-D341-0868-CFB2A24963B8}"/>
                    </a:ext>
                  </a:extLst>
                </p14:cNvPr>
                <p14:cNvContentPartPr/>
                <p14:nvPr/>
              </p14:nvContentPartPr>
              <p14:xfrm>
                <a:off x="7056550" y="5220118"/>
                <a:ext cx="2053440" cy="1512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714DA970-A25B-D341-0868-CFB2A24963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38910" y="5202478"/>
                  <a:ext cx="2089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959DD78C-1747-2CBE-38E5-DB198BE0F08F}"/>
                    </a:ext>
                  </a:extLst>
                </p14:cNvPr>
                <p14:cNvContentPartPr/>
                <p14:nvPr/>
              </p14:nvContentPartPr>
              <p14:xfrm>
                <a:off x="8995510" y="5193838"/>
                <a:ext cx="155160" cy="16560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959DD78C-1747-2CBE-38E5-DB198BE0F0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77510" y="5175838"/>
                  <a:ext cx="190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3636FB2A-9F63-659D-9D22-582A209CFA3D}"/>
                    </a:ext>
                  </a:extLst>
                </p14:cNvPr>
                <p14:cNvContentPartPr/>
                <p14:nvPr/>
              </p14:nvContentPartPr>
              <p14:xfrm>
                <a:off x="9206470" y="5235238"/>
                <a:ext cx="7920" cy="88200"/>
              </p14:xfrm>
            </p:contentPart>
          </mc:Choice>
          <mc:Fallback xmlns=""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3636FB2A-9F63-659D-9D22-582A209CFA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88470" y="5217238"/>
                  <a:ext cx="43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98455FB2-CF37-39D2-8945-9D3D5E6854EF}"/>
                    </a:ext>
                  </a:extLst>
                </p14:cNvPr>
                <p14:cNvContentPartPr/>
                <p14:nvPr/>
              </p14:nvContentPartPr>
              <p14:xfrm>
                <a:off x="9213670" y="5437198"/>
                <a:ext cx="360" cy="16308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98455FB2-CF37-39D2-8945-9D3D5E6854E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96030" y="5419558"/>
                  <a:ext cx="3600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2BDB3AAD-C30A-D9B9-1F3F-C352A703EAF4}"/>
                  </a:ext>
                </a:extLst>
              </p14:cNvPr>
              <p14:cNvContentPartPr/>
              <p14:nvPr/>
            </p14:nvContentPartPr>
            <p14:xfrm>
              <a:off x="9199630" y="5786398"/>
              <a:ext cx="360" cy="11304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2BDB3AAD-C30A-D9B9-1F3F-C352A703EAF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81630" y="5768398"/>
                <a:ext cx="360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4C26B9D6-912B-3AC0-700C-D6DFF2767F22}"/>
                  </a:ext>
                </a:extLst>
              </p14:cNvPr>
              <p14:cNvContentPartPr/>
              <p14:nvPr/>
            </p14:nvContentPartPr>
            <p14:xfrm>
              <a:off x="9192790" y="6100678"/>
              <a:ext cx="360" cy="3024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4C26B9D6-912B-3AC0-700C-D6DFF2767F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74790" y="6082678"/>
                <a:ext cx="3600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EA51DF3-9CBE-8763-5C6A-0C835F569273}"/>
              </a:ext>
            </a:extLst>
          </p:cNvPr>
          <p:cNvGrpSpPr/>
          <p:nvPr/>
        </p:nvGrpSpPr>
        <p:grpSpPr>
          <a:xfrm>
            <a:off x="7530310" y="4697398"/>
            <a:ext cx="1063080" cy="443520"/>
            <a:chOff x="7530310" y="4697398"/>
            <a:chExt cx="106308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A08ACAFD-F47A-650E-6382-B3C35ACDD617}"/>
                    </a:ext>
                  </a:extLst>
                </p14:cNvPr>
                <p14:cNvContentPartPr/>
                <p14:nvPr/>
              </p14:nvContentPartPr>
              <p14:xfrm>
                <a:off x="7530310" y="4892878"/>
                <a:ext cx="78480" cy="15120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A08ACAFD-F47A-650E-6382-B3C35ACDD6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12310" y="4874878"/>
                  <a:ext cx="114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Freihand 22">
                  <a:extLst>
                    <a:ext uri="{FF2B5EF4-FFF2-40B4-BE49-F238E27FC236}">
                      <a16:creationId xmlns:a16="http://schemas.microsoft.com/office/drawing/2014/main" id="{D1440CCB-B512-95C1-0A2B-3DED64FD3D5F}"/>
                    </a:ext>
                  </a:extLst>
                </p14:cNvPr>
                <p14:cNvContentPartPr/>
                <p14:nvPr/>
              </p14:nvContentPartPr>
              <p14:xfrm>
                <a:off x="7670710" y="4892878"/>
                <a:ext cx="37080" cy="125280"/>
              </p14:xfrm>
            </p:contentPart>
          </mc:Choice>
          <mc:Fallback xmlns="">
            <p:pic>
              <p:nvPicPr>
                <p:cNvPr id="23" name="Freihand 22">
                  <a:extLst>
                    <a:ext uri="{FF2B5EF4-FFF2-40B4-BE49-F238E27FC236}">
                      <a16:creationId xmlns:a16="http://schemas.microsoft.com/office/drawing/2014/main" id="{D1440CCB-B512-95C1-0A2B-3DED64FD3D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53070" y="4874878"/>
                  <a:ext cx="72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3966BFCA-2628-2BB2-445B-DEE763DB2AB7}"/>
                    </a:ext>
                  </a:extLst>
                </p14:cNvPr>
                <p14:cNvContentPartPr/>
                <p14:nvPr/>
              </p14:nvContentPartPr>
              <p14:xfrm>
                <a:off x="7691590" y="4906918"/>
                <a:ext cx="249480" cy="36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3966BFCA-2628-2BB2-445B-DEE763DB2A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73950" y="4889278"/>
                  <a:ext cx="285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9AC4DA66-11C3-3472-26E8-102971976565}"/>
                    </a:ext>
                  </a:extLst>
                </p14:cNvPr>
                <p14:cNvContentPartPr/>
                <p14:nvPr/>
              </p14:nvContentPartPr>
              <p14:xfrm>
                <a:off x="7922350" y="4862998"/>
                <a:ext cx="240120" cy="19800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9AC4DA66-11C3-3472-26E8-1029719765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04710" y="4845358"/>
                  <a:ext cx="275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58C680CE-A804-49FB-D109-D8CFEAB065D1}"/>
                    </a:ext>
                  </a:extLst>
                </p14:cNvPr>
                <p14:cNvContentPartPr/>
                <p14:nvPr/>
              </p14:nvContentPartPr>
              <p14:xfrm>
                <a:off x="8186590" y="4886758"/>
                <a:ext cx="120240" cy="182880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58C680CE-A804-49FB-D109-D8CFEAB065D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68590" y="4869118"/>
                  <a:ext cx="155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Freihand 26">
                  <a:extLst>
                    <a:ext uri="{FF2B5EF4-FFF2-40B4-BE49-F238E27FC236}">
                      <a16:creationId xmlns:a16="http://schemas.microsoft.com/office/drawing/2014/main" id="{0A1BC023-1DE7-5BF5-1D9B-35B0EACEFD48}"/>
                    </a:ext>
                  </a:extLst>
                </p14:cNvPr>
                <p14:cNvContentPartPr/>
                <p14:nvPr/>
              </p14:nvContentPartPr>
              <p14:xfrm>
                <a:off x="8375590" y="4697398"/>
                <a:ext cx="7920" cy="443520"/>
              </p14:xfrm>
            </p:contentPart>
          </mc:Choice>
          <mc:Fallback xmlns="">
            <p:pic>
              <p:nvPicPr>
                <p:cNvPr id="27" name="Freihand 26">
                  <a:extLst>
                    <a:ext uri="{FF2B5EF4-FFF2-40B4-BE49-F238E27FC236}">
                      <a16:creationId xmlns:a16="http://schemas.microsoft.com/office/drawing/2014/main" id="{0A1BC023-1DE7-5BF5-1D9B-35B0EACEFD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57590" y="4679398"/>
                  <a:ext cx="435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Freihand 28">
                  <a:extLst>
                    <a:ext uri="{FF2B5EF4-FFF2-40B4-BE49-F238E27FC236}">
                      <a16:creationId xmlns:a16="http://schemas.microsoft.com/office/drawing/2014/main" id="{D20D4A64-1251-173C-42F3-BAC543F068EE}"/>
                    </a:ext>
                  </a:extLst>
                </p14:cNvPr>
                <p14:cNvContentPartPr/>
                <p14:nvPr/>
              </p14:nvContentPartPr>
              <p14:xfrm>
                <a:off x="8327350" y="4878838"/>
                <a:ext cx="128520" cy="360"/>
              </p14:xfrm>
            </p:contentPart>
          </mc:Choice>
          <mc:Fallback xmlns="">
            <p:pic>
              <p:nvPicPr>
                <p:cNvPr id="29" name="Freihand 28">
                  <a:extLst>
                    <a:ext uri="{FF2B5EF4-FFF2-40B4-BE49-F238E27FC236}">
                      <a16:creationId xmlns:a16="http://schemas.microsoft.com/office/drawing/2014/main" id="{D20D4A64-1251-173C-42F3-BAC543F068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09350" y="4861198"/>
                  <a:ext cx="164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Freihand 29">
                  <a:extLst>
                    <a:ext uri="{FF2B5EF4-FFF2-40B4-BE49-F238E27FC236}">
                      <a16:creationId xmlns:a16="http://schemas.microsoft.com/office/drawing/2014/main" id="{7F43C9F3-348B-700B-D1DE-391CEA897012}"/>
                    </a:ext>
                  </a:extLst>
                </p14:cNvPr>
                <p14:cNvContentPartPr/>
                <p14:nvPr/>
              </p14:nvContentPartPr>
              <p14:xfrm>
                <a:off x="8459830" y="4898278"/>
                <a:ext cx="133560" cy="205560"/>
              </p14:xfrm>
            </p:contentPart>
          </mc:Choice>
          <mc:Fallback xmlns="">
            <p:pic>
              <p:nvPicPr>
                <p:cNvPr id="30" name="Freihand 29">
                  <a:extLst>
                    <a:ext uri="{FF2B5EF4-FFF2-40B4-BE49-F238E27FC236}">
                      <a16:creationId xmlns:a16="http://schemas.microsoft.com/office/drawing/2014/main" id="{7F43C9F3-348B-700B-D1DE-391CEA8970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42190" y="4880278"/>
                  <a:ext cx="16920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A248ACD-86F0-24A1-9416-5338D750C56E}"/>
              </a:ext>
            </a:extLst>
          </p:cNvPr>
          <p:cNvGrpSpPr/>
          <p:nvPr/>
        </p:nvGrpSpPr>
        <p:grpSpPr>
          <a:xfrm>
            <a:off x="6952150" y="4344598"/>
            <a:ext cx="298080" cy="220320"/>
            <a:chOff x="6952150" y="4344598"/>
            <a:chExt cx="2980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DE0167C5-48FD-FBB8-5DD8-3A6FB9401EF3}"/>
                    </a:ext>
                  </a:extLst>
                </p14:cNvPr>
                <p14:cNvContentPartPr/>
                <p14:nvPr/>
              </p14:nvContentPartPr>
              <p14:xfrm>
                <a:off x="6952150" y="4344598"/>
                <a:ext cx="195480" cy="220320"/>
              </p14:xfrm>
            </p:contentPart>
          </mc:Choice>
          <mc:Fallback xmlns=""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DE0167C5-48FD-FBB8-5DD8-3A6FB9401E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34150" y="4326958"/>
                  <a:ext cx="231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Freihand 32">
                  <a:extLst>
                    <a:ext uri="{FF2B5EF4-FFF2-40B4-BE49-F238E27FC236}">
                      <a16:creationId xmlns:a16="http://schemas.microsoft.com/office/drawing/2014/main" id="{90D1259C-3AF5-21F6-8D0B-179B8B4AE454}"/>
                    </a:ext>
                  </a:extLst>
                </p14:cNvPr>
                <p14:cNvContentPartPr/>
                <p14:nvPr/>
              </p14:nvContentPartPr>
              <p14:xfrm>
                <a:off x="6987070" y="4439278"/>
                <a:ext cx="263160" cy="360"/>
              </p14:xfrm>
            </p:contentPart>
          </mc:Choice>
          <mc:Fallback xmlns="">
            <p:pic>
              <p:nvPicPr>
                <p:cNvPr id="33" name="Freihand 32">
                  <a:extLst>
                    <a:ext uri="{FF2B5EF4-FFF2-40B4-BE49-F238E27FC236}">
                      <a16:creationId xmlns:a16="http://schemas.microsoft.com/office/drawing/2014/main" id="{90D1259C-3AF5-21F6-8D0B-179B8B4AE4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69070" y="4421638"/>
                  <a:ext cx="2988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93420D65-8D68-490C-EA47-6E83DD60E2E8}"/>
              </a:ext>
            </a:extLst>
          </p:cNvPr>
          <p:cNvGrpSpPr/>
          <p:nvPr/>
        </p:nvGrpSpPr>
        <p:grpSpPr>
          <a:xfrm>
            <a:off x="9108910" y="4802518"/>
            <a:ext cx="216720" cy="287640"/>
            <a:chOff x="9108910" y="4802518"/>
            <a:chExt cx="21672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1CBF9655-C187-C964-5686-7DA5AE8DCAC5}"/>
                    </a:ext>
                  </a:extLst>
                </p14:cNvPr>
                <p14:cNvContentPartPr/>
                <p14:nvPr/>
              </p14:nvContentPartPr>
              <p14:xfrm>
                <a:off x="9170110" y="4830238"/>
                <a:ext cx="9000" cy="259920"/>
              </p14:xfrm>
            </p:contentPart>
          </mc:Choice>
          <mc:Fallback xmlns=""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1CBF9655-C187-C964-5686-7DA5AE8DCA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52470" y="4812598"/>
                  <a:ext cx="44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EAF327AF-2388-2C47-DFCB-EF6E77FCD200}"/>
                    </a:ext>
                  </a:extLst>
                </p14:cNvPr>
                <p14:cNvContentPartPr/>
                <p14:nvPr/>
              </p14:nvContentPartPr>
              <p14:xfrm>
                <a:off x="9108910" y="4802518"/>
                <a:ext cx="216720" cy="251640"/>
              </p14:xfrm>
            </p:contentPart>
          </mc:Choice>
          <mc:Fallback xmlns=""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EAF327AF-2388-2C47-DFCB-EF6E77FCD2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90910" y="4784878"/>
                  <a:ext cx="25236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1887A74-ED5F-BB21-2206-4471B80A9B90}"/>
              </a:ext>
            </a:extLst>
          </p:cNvPr>
          <p:cNvGrpSpPr/>
          <p:nvPr/>
        </p:nvGrpSpPr>
        <p:grpSpPr>
          <a:xfrm>
            <a:off x="9018190" y="6288958"/>
            <a:ext cx="432360" cy="528480"/>
            <a:chOff x="9018190" y="6288958"/>
            <a:chExt cx="432360" cy="52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5D72A688-98A3-00A8-1362-2BC25770C527}"/>
                    </a:ext>
                  </a:extLst>
                </p14:cNvPr>
                <p14:cNvContentPartPr/>
                <p14:nvPr/>
              </p14:nvContentPartPr>
              <p14:xfrm>
                <a:off x="9192790" y="6351958"/>
                <a:ext cx="360" cy="8964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5D72A688-98A3-00A8-1362-2BC25770C5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74790" y="6333958"/>
                  <a:ext cx="36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DEFE5570-B322-44A1-AD20-720423B0973F}"/>
                    </a:ext>
                  </a:extLst>
                </p14:cNvPr>
                <p14:cNvContentPartPr/>
                <p14:nvPr/>
              </p14:nvContentPartPr>
              <p14:xfrm>
                <a:off x="9192790" y="6575158"/>
                <a:ext cx="360" cy="19440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DEFE5570-B322-44A1-AD20-720423B097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74790" y="6557158"/>
                  <a:ext cx="36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Freihand 37">
                  <a:extLst>
                    <a:ext uri="{FF2B5EF4-FFF2-40B4-BE49-F238E27FC236}">
                      <a16:creationId xmlns:a16="http://schemas.microsoft.com/office/drawing/2014/main" id="{3B52408C-F877-319B-D1FD-D0E133D8341E}"/>
                    </a:ext>
                  </a:extLst>
                </p14:cNvPr>
                <p14:cNvContentPartPr/>
                <p14:nvPr/>
              </p14:nvContentPartPr>
              <p14:xfrm>
                <a:off x="9045910" y="6428638"/>
                <a:ext cx="404640" cy="258480"/>
              </p14:xfrm>
            </p:contentPart>
          </mc:Choice>
          <mc:Fallback xmlns="">
            <p:pic>
              <p:nvPicPr>
                <p:cNvPr id="38" name="Freihand 37">
                  <a:extLst>
                    <a:ext uri="{FF2B5EF4-FFF2-40B4-BE49-F238E27FC236}">
                      <a16:creationId xmlns:a16="http://schemas.microsoft.com/office/drawing/2014/main" id="{3B52408C-F877-319B-D1FD-D0E133D834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28270" y="6410638"/>
                  <a:ext cx="440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Freihand 39">
                  <a:extLst>
                    <a:ext uri="{FF2B5EF4-FFF2-40B4-BE49-F238E27FC236}">
                      <a16:creationId xmlns:a16="http://schemas.microsoft.com/office/drawing/2014/main" id="{9774EA6D-E721-A1D3-1AC5-426994DBD243}"/>
                    </a:ext>
                  </a:extLst>
                </p14:cNvPr>
                <p14:cNvContentPartPr/>
                <p14:nvPr/>
              </p14:nvContentPartPr>
              <p14:xfrm>
                <a:off x="9018190" y="6288958"/>
                <a:ext cx="365040" cy="528480"/>
              </p14:xfrm>
            </p:contentPart>
          </mc:Choice>
          <mc:Fallback xmlns="">
            <p:pic>
              <p:nvPicPr>
                <p:cNvPr id="40" name="Freihand 39">
                  <a:extLst>
                    <a:ext uri="{FF2B5EF4-FFF2-40B4-BE49-F238E27FC236}">
                      <a16:creationId xmlns:a16="http://schemas.microsoft.com/office/drawing/2014/main" id="{9774EA6D-E721-A1D3-1AC5-426994DBD2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00550" y="6270958"/>
                  <a:ext cx="400680" cy="56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1335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4DF3C8-9343-045A-991C-0EF4F251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Strukturierungselemente (Interaktionsfragmente)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FF7C18-D7F6-A756-FBB8-80481848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Um komplexe Logik wie Schleifen oder Bedingungen darzustellen, werden </a:t>
            </a:r>
            <a:r>
              <a:rPr lang="de-DE" b="1" dirty="0"/>
              <a:t>Kombinierte Fragmente</a:t>
            </a:r>
            <a:r>
              <a:rPr lang="de-DE" dirty="0"/>
              <a:t> (Rahmen) verwendet.</a:t>
            </a:r>
          </a:p>
          <a:p>
            <a:endParaRPr lang="de-DE" dirty="0"/>
          </a:p>
          <a:p>
            <a:r>
              <a:rPr lang="de-DE" b="1" dirty="0"/>
              <a:t>Alternative (alt)</a:t>
            </a:r>
          </a:p>
          <a:p>
            <a:pPr lvl="1"/>
            <a:r>
              <a:rPr lang="de-DE" b="1" dirty="0"/>
              <a:t>Funktion:</a:t>
            </a:r>
            <a:r>
              <a:rPr lang="de-DE" dirty="0"/>
              <a:t> Entspricht einer </a:t>
            </a:r>
            <a:r>
              <a:rPr lang="de-DE" dirty="0" err="1"/>
              <a:t>if</a:t>
            </a:r>
            <a:r>
              <a:rPr lang="de-DE" dirty="0"/>
              <a:t> / </a:t>
            </a:r>
            <a:r>
              <a:rPr lang="de-DE" dirty="0" err="1"/>
              <a:t>else</a:t>
            </a:r>
            <a:r>
              <a:rPr lang="de-DE" dirty="0"/>
              <a:t>-Anweisung.</a:t>
            </a:r>
          </a:p>
          <a:p>
            <a:pPr lvl="1"/>
            <a:r>
              <a:rPr lang="de-DE" b="1" dirty="0"/>
              <a:t>Syntax:</a:t>
            </a:r>
            <a:r>
              <a:rPr lang="de-DE" dirty="0"/>
              <a:t> Ein Rahmen mit dem Label alt. </a:t>
            </a:r>
          </a:p>
          <a:p>
            <a:pPr lvl="1"/>
            <a:r>
              <a:rPr lang="de-DE" dirty="0"/>
              <a:t>gestrichelte horizontale Linie teilt den Rahmen in Segmente. Nur </a:t>
            </a:r>
            <a:r>
              <a:rPr lang="de-DE" i="1" dirty="0"/>
              <a:t>eines</a:t>
            </a:r>
            <a:r>
              <a:rPr lang="de-DE" dirty="0"/>
              <a:t> der Segmente wird ausgeführt, abhängig von der Bedingung (</a:t>
            </a:r>
            <a:r>
              <a:rPr lang="de-DE" dirty="0" err="1"/>
              <a:t>Guard</a:t>
            </a:r>
            <a:r>
              <a:rPr lang="de-DE" dirty="0"/>
              <a:t>), die in eckigen Klammern steht [Bedingung]</a:t>
            </a:r>
          </a:p>
          <a:p>
            <a:r>
              <a:rPr lang="de-DE" b="1" dirty="0"/>
              <a:t>Option (</a:t>
            </a:r>
            <a:r>
              <a:rPr lang="de-DE" b="1" dirty="0" err="1"/>
              <a:t>opt</a:t>
            </a:r>
            <a:r>
              <a:rPr lang="de-DE" b="1" dirty="0"/>
              <a:t>):</a:t>
            </a:r>
          </a:p>
          <a:p>
            <a:pPr lvl="1"/>
            <a:r>
              <a:rPr lang="de-DE" b="1" dirty="0"/>
              <a:t>Funktion:</a:t>
            </a:r>
            <a:r>
              <a:rPr lang="de-DE" dirty="0"/>
              <a:t> Entspricht einer </a:t>
            </a:r>
            <a:r>
              <a:rPr lang="de-DE" dirty="0" err="1"/>
              <a:t>if</a:t>
            </a:r>
            <a:r>
              <a:rPr lang="de-DE" dirty="0"/>
              <a:t>-Anweisung ohne </a:t>
            </a:r>
            <a:r>
              <a:rPr lang="de-DE" dirty="0" err="1"/>
              <a:t>else</a:t>
            </a:r>
            <a:endParaRPr lang="de-DE" dirty="0"/>
          </a:p>
          <a:p>
            <a:pPr lvl="1"/>
            <a:r>
              <a:rPr lang="de-DE" b="1" dirty="0"/>
              <a:t>Syntax:</a:t>
            </a:r>
            <a:r>
              <a:rPr lang="de-DE" dirty="0"/>
              <a:t> Ein Rahmen mit dem Label </a:t>
            </a:r>
            <a:r>
              <a:rPr lang="de-DE" dirty="0" err="1"/>
              <a:t>opt</a:t>
            </a:r>
            <a:r>
              <a:rPr lang="de-DE" dirty="0"/>
              <a:t>. Der Inhalt wird nur ausgeführt, wenn die Bedingung [</a:t>
            </a:r>
            <a:r>
              <a:rPr lang="de-DE" dirty="0" err="1"/>
              <a:t>Guard</a:t>
            </a:r>
            <a:r>
              <a:rPr lang="de-DE" dirty="0"/>
              <a:t>] wahr ist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292263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8CB1FD-6C6B-36D3-CD1C-A6AC3B9C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Strukturierungselemente (Interaktionsfragmente)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7C851-ACC9-5185-1A3F-74BDF3D2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b="1" dirty="0"/>
              <a:t>Schleife (loop)</a:t>
            </a:r>
          </a:p>
          <a:p>
            <a:pPr lvl="1"/>
            <a:r>
              <a:rPr lang="de-DE" b="1" dirty="0"/>
              <a:t>Funktion:</a:t>
            </a:r>
            <a:r>
              <a:rPr lang="de-DE" dirty="0"/>
              <a:t> Entspricht einer </a:t>
            </a:r>
            <a:r>
              <a:rPr lang="de-DE" dirty="0" err="1"/>
              <a:t>for</a:t>
            </a:r>
            <a:r>
              <a:rPr lang="de-DE" dirty="0"/>
              <a:t> oder </a:t>
            </a:r>
            <a:r>
              <a:rPr lang="de-DE" dirty="0" err="1"/>
              <a:t>while</a:t>
            </a:r>
            <a:r>
              <a:rPr lang="de-DE" dirty="0"/>
              <a:t>-Schleife</a:t>
            </a:r>
          </a:p>
          <a:p>
            <a:pPr lvl="1"/>
            <a:r>
              <a:rPr lang="de-DE" b="1" dirty="0"/>
              <a:t>Syntax:</a:t>
            </a:r>
            <a:r>
              <a:rPr lang="de-DE" dirty="0"/>
              <a:t> Ein Rahmen mit dem Label loop. Oft steht daneben die Bedingung, z. B. loop [1..n] oder loop [solange Fehler]</a:t>
            </a:r>
          </a:p>
          <a:p>
            <a:pPr lvl="1"/>
            <a:endParaRPr lang="de-DE" dirty="0"/>
          </a:p>
          <a:p>
            <a:r>
              <a:rPr lang="de-DE" b="1" dirty="0"/>
              <a:t>Parallelität (par)</a:t>
            </a:r>
          </a:p>
          <a:p>
            <a:pPr lvl="1"/>
            <a:r>
              <a:rPr lang="de-DE" b="1" dirty="0"/>
              <a:t>Funktion:</a:t>
            </a:r>
            <a:r>
              <a:rPr lang="de-DE" dirty="0"/>
              <a:t> Gleichzeitige Ausführung (Multithreading)</a:t>
            </a:r>
          </a:p>
          <a:p>
            <a:pPr lvl="1"/>
            <a:r>
              <a:rPr lang="de-DE" b="1" dirty="0"/>
              <a:t>Syntax:</a:t>
            </a:r>
            <a:r>
              <a:rPr lang="de-DE" dirty="0"/>
              <a:t> Ein Rahmen mit dem Label par. Die Aktionen in den verschiedenen Segmenten laufen zeitgleich ab</a:t>
            </a:r>
          </a:p>
          <a:p>
            <a:pPr lvl="1"/>
            <a:endParaRPr lang="de-DE" b="1" dirty="0"/>
          </a:p>
          <a:p>
            <a:r>
              <a:rPr lang="de-DE" b="1" dirty="0"/>
              <a:t>Referenz (</a:t>
            </a:r>
            <a:r>
              <a:rPr lang="de-DE" b="1" dirty="0" err="1"/>
              <a:t>ref</a:t>
            </a:r>
            <a:r>
              <a:rPr lang="de-DE" b="1" dirty="0"/>
              <a:t>):</a:t>
            </a:r>
          </a:p>
          <a:p>
            <a:pPr lvl="1"/>
            <a:r>
              <a:rPr lang="de-DE" b="1" dirty="0"/>
              <a:t>Funktion:</a:t>
            </a:r>
            <a:r>
              <a:rPr lang="de-DE" dirty="0"/>
              <a:t> Verweis auf ein anderes Sequenzdiagramm (Modularisierung)</a:t>
            </a:r>
            <a:endParaRPr lang="de-DE" b="1" dirty="0"/>
          </a:p>
          <a:p>
            <a:pPr lvl="1"/>
            <a:r>
              <a:rPr lang="de-DE" b="1" dirty="0"/>
              <a:t>Syntax:</a:t>
            </a:r>
            <a:r>
              <a:rPr lang="de-DE" dirty="0"/>
              <a:t> Ein Rahmen mit dem Label </a:t>
            </a:r>
            <a:r>
              <a:rPr lang="de-DE" dirty="0" err="1"/>
              <a:t>ref</a:t>
            </a:r>
            <a:r>
              <a:rPr lang="de-DE" dirty="0"/>
              <a:t> in der Mitte, der den Namen des anderen Diagramms enthält. Dient dazu, Details auszulagern</a:t>
            </a:r>
          </a:p>
        </p:txBody>
      </p:sp>
    </p:spTree>
    <p:extLst>
      <p:ext uri="{BB962C8B-B14F-4D97-AF65-F5344CB8AC3E}">
        <p14:creationId xmlns:p14="http://schemas.microsoft.com/office/powerpoint/2010/main" val="146073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A8C78E98-CB6F-9361-132B-5616FAF39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2067" y="87652"/>
            <a:ext cx="5586984" cy="66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29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D507B-E84C-8A26-13B9-04EEE32D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Aktivitätsdiagramm (Verhalten / Ablauf)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395BE3-A802-28AB-AFAA-AF052258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Zweck:</a:t>
            </a:r>
            <a:br>
              <a:rPr lang="de-DE" dirty="0"/>
            </a:br>
            <a:r>
              <a:rPr lang="de-DE" dirty="0"/>
              <a:t>Zeigt den flussorientierten Ablauf eines Prozesses (ähnlich einem Flussdiagramm). Es visualisiert Entscheidungen (</a:t>
            </a:r>
            <a:r>
              <a:rPr lang="de-DE" dirty="0" err="1"/>
              <a:t>If</a:t>
            </a:r>
            <a:r>
              <a:rPr lang="de-DE" dirty="0"/>
              <a:t>/Else), Schleifen und parallele Abläufe.</a:t>
            </a:r>
          </a:p>
          <a:p>
            <a:endParaRPr lang="de-DE" dirty="0"/>
          </a:p>
        </p:txBody>
      </p:sp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F305DBF0-FA53-A887-7A6F-EFE44ED28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49" y="3657964"/>
            <a:ext cx="6237427" cy="277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019215C-9ADF-0E39-628D-CA4736B63BF1}"/>
              </a:ext>
            </a:extLst>
          </p:cNvPr>
          <p:cNvSpPr txBox="1"/>
          <p:nvPr/>
        </p:nvSpPr>
        <p:spPr>
          <a:xfrm>
            <a:off x="5624287" y="6492875"/>
            <a:ext cx="60972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https://de.wikipedia.org/wiki/Aktivit%C3%A4tsdiagramm#/media/Datei:Uml-Activity-Beispiel2.svg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r>
              <a:rPr lang="de-DE" sz="800" dirty="0"/>
              <a:t> </a:t>
            </a:r>
            <a:r>
              <a:rPr lang="de-DE" sz="800" dirty="0">
                <a:hlinkClick r:id="rId5" tooltip="de:Benutzer:Stern"/>
              </a:rPr>
              <a:t>Stern</a:t>
            </a:r>
            <a:r>
              <a:rPr lang="de-DE" sz="800" dirty="0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DC721D4-3839-07D2-4195-8A6C668D5541}"/>
              </a:ext>
            </a:extLst>
          </p:cNvPr>
          <p:cNvSpPr txBox="1"/>
          <p:nvPr/>
        </p:nvSpPr>
        <p:spPr>
          <a:xfrm>
            <a:off x="7205472" y="3429000"/>
            <a:ext cx="278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UML 2 Aktivitätsdiagramm</a:t>
            </a:r>
          </a:p>
        </p:txBody>
      </p:sp>
    </p:spTree>
    <p:extLst>
      <p:ext uri="{BB962C8B-B14F-4D97-AF65-F5344CB8AC3E}">
        <p14:creationId xmlns:p14="http://schemas.microsoft.com/office/powerpoint/2010/main" val="3717289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FB55A-CEE4-3436-E0E8-11DB61BD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UML 1 </a:t>
            </a:r>
            <a:r>
              <a:rPr lang="de-DE" dirty="0" err="1"/>
              <a:t>vs</a:t>
            </a:r>
            <a:r>
              <a:rPr lang="de-DE" dirty="0"/>
              <a:t> UML 2 Aktivitätsdiagramm</a:t>
            </a:r>
          </a:p>
        </p:txBody>
      </p:sp>
      <p:pic>
        <p:nvPicPr>
          <p:cNvPr id="5" name="Inhaltsplatzhalter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3D633C0-20FD-8657-4AF9-F63203350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641" y="1805503"/>
            <a:ext cx="6924710" cy="3829693"/>
          </a:xfrm>
          <a:prstGeom prst="rect">
            <a:avLst/>
          </a:prstGeom>
        </p:spPr>
      </p:pic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6B2573BA-0E7C-87CF-CCE4-63C7154A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1952"/>
            <a:ext cx="3963692" cy="495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0A270A4-A391-4EAE-5881-1B0508930046}"/>
              </a:ext>
            </a:extLst>
          </p:cNvPr>
          <p:cNvSpPr txBox="1"/>
          <p:nvPr/>
        </p:nvSpPr>
        <p:spPr>
          <a:xfrm>
            <a:off x="68085" y="6492875"/>
            <a:ext cx="60972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4"/>
              </a:rPr>
              <a:t>https://de.wikipedia.org/wiki/Aktivit%C3%A4tsdiagramm#/media/Datei:Uml-Activity-Beispiel1.svg</a:t>
            </a:r>
            <a:r>
              <a:rPr lang="de-DE" sz="800" dirty="0"/>
              <a:t> Original PNG </a:t>
            </a:r>
            <a:r>
              <a:rPr lang="de-DE" sz="800" dirty="0" err="1">
                <a:hlinkClick r:id="rId5" tooltip="File:Aktivity diagram 2.png"/>
              </a:rPr>
              <a:t>Aktivity</a:t>
            </a:r>
            <a:r>
              <a:rPr lang="de-DE" sz="800" dirty="0">
                <a:hlinkClick r:id="rId5" tooltip="File:Aktivity diagram 2.png"/>
              </a:rPr>
              <a:t> </a:t>
            </a:r>
            <a:r>
              <a:rPr lang="de-DE" sz="800" dirty="0" err="1">
                <a:hlinkClick r:id="rId5" tooltip="File:Aktivity diagram 2.png"/>
              </a:rPr>
              <a:t>diagram</a:t>
            </a:r>
            <a:r>
              <a:rPr lang="de-DE" sz="800" dirty="0">
                <a:hlinkClick r:id="rId5" tooltip="File:Aktivity diagram 2.png"/>
              </a:rPr>
              <a:t> 2.png</a:t>
            </a:r>
            <a:r>
              <a:rPr lang="de-DE" sz="800" dirty="0"/>
              <a:t> </a:t>
            </a:r>
            <a:r>
              <a:rPr lang="de-DE" sz="800" dirty="0" err="1"/>
              <a:t>by</a:t>
            </a:r>
            <a:r>
              <a:rPr lang="de-DE" sz="800" dirty="0"/>
              <a:t> </a:t>
            </a:r>
            <a:r>
              <a:rPr lang="de-DE" sz="800" dirty="0">
                <a:hlinkClick r:id="rId6" tooltip="de:Benutzer:Stern"/>
              </a:rPr>
              <a:t>Stern</a:t>
            </a:r>
            <a:r>
              <a:rPr lang="de-DE" sz="800" dirty="0"/>
              <a:t> - </a:t>
            </a:r>
            <a:r>
              <a:rPr lang="de-DE" sz="800" dirty="0" err="1"/>
              <a:t>Redrawn</a:t>
            </a:r>
            <a:r>
              <a:rPr lang="de-DE" sz="800" dirty="0"/>
              <a:t> in SVG</a:t>
            </a:r>
          </a:p>
          <a:p>
            <a:r>
              <a:rPr lang="de-DE" sz="800" dirty="0">
                <a:hlinkClick r:id="rId7"/>
              </a:rPr>
              <a:t>CC BY-SA 3.0</a:t>
            </a:r>
            <a:endParaRPr lang="de-DE" sz="800" dirty="0"/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18BF914-AF25-08B1-38B2-85CEBED4F03B}"/>
              </a:ext>
            </a:extLst>
          </p:cNvPr>
          <p:cNvSpPr txBox="1"/>
          <p:nvPr/>
        </p:nvSpPr>
        <p:spPr>
          <a:xfrm>
            <a:off x="1428960" y="1901952"/>
            <a:ext cx="278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UML 1 Aktivitätsdiagramm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0B66827-5794-8C04-326D-18D774677826}"/>
              </a:ext>
            </a:extLst>
          </p:cNvPr>
          <p:cNvGrpSpPr/>
          <p:nvPr/>
        </p:nvGrpSpPr>
        <p:grpSpPr>
          <a:xfrm>
            <a:off x="2833901" y="2779818"/>
            <a:ext cx="785520" cy="424080"/>
            <a:chOff x="2833901" y="2779818"/>
            <a:chExt cx="78552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Freihand 2">
                  <a:extLst>
                    <a:ext uri="{FF2B5EF4-FFF2-40B4-BE49-F238E27FC236}">
                      <a16:creationId xmlns:a16="http://schemas.microsoft.com/office/drawing/2014/main" id="{4ACCA224-3B66-8886-BA2C-005533E61009}"/>
                    </a:ext>
                  </a:extLst>
                </p14:cNvPr>
                <p14:cNvContentPartPr/>
                <p14:nvPr/>
              </p14:nvContentPartPr>
              <p14:xfrm>
                <a:off x="2833901" y="3203538"/>
                <a:ext cx="360" cy="360"/>
              </p14:xfrm>
            </p:contentPart>
          </mc:Choice>
          <mc:Fallback xmlns="">
            <p:pic>
              <p:nvPicPr>
                <p:cNvPr id="3" name="Freihand 2">
                  <a:extLst>
                    <a:ext uri="{FF2B5EF4-FFF2-40B4-BE49-F238E27FC236}">
                      <a16:creationId xmlns:a16="http://schemas.microsoft.com/office/drawing/2014/main" id="{4ACCA224-3B66-8886-BA2C-005533E610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27781" y="319741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Freihand 3">
                  <a:extLst>
                    <a:ext uri="{FF2B5EF4-FFF2-40B4-BE49-F238E27FC236}">
                      <a16:creationId xmlns:a16="http://schemas.microsoft.com/office/drawing/2014/main" id="{C5A2CF81-E818-2013-D6CF-A3A194E23AEB}"/>
                    </a:ext>
                  </a:extLst>
                </p14:cNvPr>
                <p14:cNvContentPartPr/>
                <p14:nvPr/>
              </p14:nvContentPartPr>
              <p14:xfrm>
                <a:off x="2833901" y="2779818"/>
                <a:ext cx="785520" cy="424080"/>
              </p14:xfrm>
            </p:contentPart>
          </mc:Choice>
          <mc:Fallback xmlns="">
            <p:pic>
              <p:nvPicPr>
                <p:cNvPr id="4" name="Freihand 3">
                  <a:extLst>
                    <a:ext uri="{FF2B5EF4-FFF2-40B4-BE49-F238E27FC236}">
                      <a16:creationId xmlns:a16="http://schemas.microsoft.com/office/drawing/2014/main" id="{C5A2CF81-E818-2013-D6CF-A3A194E23A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27781" y="2773698"/>
                  <a:ext cx="797760" cy="43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7445D6C5-63E0-8B29-4FB2-53EC8B3F71CB}"/>
              </a:ext>
            </a:extLst>
          </p:cNvPr>
          <p:cNvSpPr txBox="1"/>
          <p:nvPr/>
        </p:nvSpPr>
        <p:spPr>
          <a:xfrm>
            <a:off x="3593600" y="2595152"/>
            <a:ext cx="154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4646FF"/>
                </a:solidFill>
              </a:rPr>
              <a:t>Entscheidung</a:t>
            </a:r>
          </a:p>
        </p:txBody>
      </p:sp>
    </p:spTree>
    <p:extLst>
      <p:ext uri="{BB962C8B-B14F-4D97-AF65-F5344CB8AC3E}">
        <p14:creationId xmlns:p14="http://schemas.microsoft.com/office/powerpoint/2010/main" val="2141844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CB19D81-5F55-1169-886A-9678B88A3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2648" y="160281"/>
            <a:ext cx="6467142" cy="653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2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2937A-B7DB-7EB8-DBC4-250614AD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Symbole</a:t>
            </a:r>
          </a:p>
        </p:txBody>
      </p:sp>
      <p:pic>
        <p:nvPicPr>
          <p:cNvPr id="13" name="Grafik 12" descr="Ein Bild, das Screenshot, Text, Design, Kunst enthält.&#10;&#10;KI-generierte Inhalte können fehlerhaft sein.">
            <a:extLst>
              <a:ext uri="{FF2B5EF4-FFF2-40B4-BE49-F238E27FC236}">
                <a16:creationId xmlns:a16="http://schemas.microsoft.com/office/drawing/2014/main" id="{D94C4AC3-757E-9F33-BEE0-D0D7878F9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709" y="1377683"/>
            <a:ext cx="3206915" cy="525807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EAD1E3BA-BDA8-2536-E507-A1A7A048D63A}"/>
              </a:ext>
            </a:extLst>
          </p:cNvPr>
          <p:cNvSpPr txBox="1"/>
          <p:nvPr/>
        </p:nvSpPr>
        <p:spPr>
          <a:xfrm>
            <a:off x="4929817" y="1446509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Startknoten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96BB8C3-C2EC-78C9-79B7-E7B2F4340525}"/>
              </a:ext>
            </a:extLst>
          </p:cNvPr>
          <p:cNvSpPr txBox="1"/>
          <p:nvPr/>
        </p:nvSpPr>
        <p:spPr>
          <a:xfrm>
            <a:off x="4894915" y="2155517"/>
            <a:ext cx="6132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Endknoten</a:t>
            </a:r>
            <a:r>
              <a:rPr lang="de-DE" dirty="0"/>
              <a:t>:</a:t>
            </a:r>
          </a:p>
          <a:p>
            <a:r>
              <a:rPr lang="de-DE" dirty="0"/>
              <a:t>Beendet alle </a:t>
            </a:r>
          </a:p>
          <a:p>
            <a:r>
              <a:rPr lang="de-DE" dirty="0"/>
              <a:t>Aktivitäten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85470F5-C7CA-F1B9-B590-92530C2003EE}"/>
              </a:ext>
            </a:extLst>
          </p:cNvPr>
          <p:cNvSpPr txBox="1"/>
          <p:nvPr/>
        </p:nvSpPr>
        <p:spPr>
          <a:xfrm>
            <a:off x="4587622" y="5873369"/>
            <a:ext cx="613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Aktivitäten (Schritte)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8B4DD2D-4713-027F-6644-E8911D202F29}"/>
              </a:ext>
            </a:extLst>
          </p:cNvPr>
          <p:cNvSpPr txBox="1"/>
          <p:nvPr/>
        </p:nvSpPr>
        <p:spPr>
          <a:xfrm>
            <a:off x="4829601" y="3162831"/>
            <a:ext cx="6132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Ablaufende:</a:t>
            </a:r>
          </a:p>
          <a:p>
            <a:r>
              <a:rPr lang="de-DE" dirty="0"/>
              <a:t>Beendet </a:t>
            </a:r>
          </a:p>
          <a:p>
            <a:r>
              <a:rPr lang="de-DE" dirty="0"/>
              <a:t>aktuellen Fluss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3E4B485-AB77-A3E3-307B-FA9FEB94F0E7}"/>
              </a:ext>
            </a:extLst>
          </p:cNvPr>
          <p:cNvSpPr txBox="1"/>
          <p:nvPr/>
        </p:nvSpPr>
        <p:spPr>
          <a:xfrm>
            <a:off x="4766919" y="4138596"/>
            <a:ext cx="6142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Verzweigung</a:t>
            </a:r>
            <a:r>
              <a:rPr lang="de-DE" dirty="0"/>
              <a:t>/</a:t>
            </a:r>
          </a:p>
          <a:p>
            <a:r>
              <a:rPr lang="de-DE" b="1" dirty="0"/>
              <a:t>Zusammenführung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9EDD8D4-9461-2825-83B4-7576A3B5394F}"/>
              </a:ext>
            </a:extLst>
          </p:cNvPr>
          <p:cNvSpPr txBox="1"/>
          <p:nvPr/>
        </p:nvSpPr>
        <p:spPr>
          <a:xfrm>
            <a:off x="3626487" y="5078085"/>
            <a:ext cx="6142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Zusammenführung/Gabelung:</a:t>
            </a:r>
          </a:p>
          <a:p>
            <a:r>
              <a:rPr lang="de-DE" dirty="0"/>
              <a:t>z.B. für parallele Verarbeitung</a:t>
            </a:r>
          </a:p>
        </p:txBody>
      </p:sp>
    </p:spTree>
    <p:extLst>
      <p:ext uri="{BB962C8B-B14F-4D97-AF65-F5344CB8AC3E}">
        <p14:creationId xmlns:p14="http://schemas.microsoft.com/office/powerpoint/2010/main" val="2389795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3817C-D013-090A-89E6-5E286174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Aktivitätsdiagramm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D6961DC-A5E9-4E0F-4EDE-7BB5E650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81" y="2104364"/>
            <a:ext cx="4310292" cy="4003827"/>
          </a:xfrm>
          <a:prstGeom prst="rect">
            <a:avLst/>
          </a:prstGeom>
        </p:spPr>
      </p:pic>
      <p:pic>
        <p:nvPicPr>
          <p:cNvPr id="7" name="Grafik 6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76110711-0097-1B58-4497-58325C16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1" y="2104364"/>
            <a:ext cx="3288784" cy="442192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804E981-182D-3B8C-23B2-0FDC2834B0EB}"/>
              </a:ext>
            </a:extLst>
          </p:cNvPr>
          <p:cNvSpPr txBox="1"/>
          <p:nvPr/>
        </p:nvSpPr>
        <p:spPr>
          <a:xfrm>
            <a:off x="7657228" y="1712860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UML 1</a:t>
            </a:r>
          </a:p>
        </p:txBody>
      </p:sp>
    </p:spTree>
    <p:extLst>
      <p:ext uri="{BB962C8B-B14F-4D97-AF65-F5344CB8AC3E}">
        <p14:creationId xmlns:p14="http://schemas.microsoft.com/office/powerpoint/2010/main" val="4046619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B8ECC-874C-2237-4027-0142E4DE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Aktivitätsdiagramm - Entscheidungen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B0E8FD-51C3-3EF0-6F2A-20714F11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495" y="2237454"/>
            <a:ext cx="10515600" cy="4351338"/>
          </a:xfrm>
        </p:spPr>
        <p:txBody>
          <a:bodyPr/>
          <a:lstStyle/>
          <a:p>
            <a:r>
              <a:rPr lang="de-DE" dirty="0"/>
              <a:t>Entscheidung/Verzweigung </a:t>
            </a:r>
            <a:r>
              <a:rPr lang="de-DE" dirty="0" err="1"/>
              <a:t>if</a:t>
            </a:r>
            <a:r>
              <a:rPr lang="de-DE" dirty="0"/>
              <a:t>/</a:t>
            </a:r>
            <a:r>
              <a:rPr lang="de-DE" dirty="0" err="1"/>
              <a:t>else</a:t>
            </a:r>
            <a:endParaRPr lang="de-DE" dirty="0"/>
          </a:p>
        </p:txBody>
      </p:sp>
      <p:sp>
        <p:nvSpPr>
          <p:cNvPr id="4" name="Raute 3">
            <a:extLst>
              <a:ext uri="{FF2B5EF4-FFF2-40B4-BE49-F238E27FC236}">
                <a16:creationId xmlns:a16="http://schemas.microsoft.com/office/drawing/2014/main" id="{B8BE6C29-26C5-C09B-77BE-6199E0DE8BE3}"/>
              </a:ext>
            </a:extLst>
          </p:cNvPr>
          <p:cNvSpPr/>
          <p:nvPr/>
        </p:nvSpPr>
        <p:spPr>
          <a:xfrm>
            <a:off x="1926522" y="2778101"/>
            <a:ext cx="1382070" cy="132556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E4A235E-A9D3-0E8C-E67C-F9CB3EF2A062}"/>
              </a:ext>
            </a:extLst>
          </p:cNvPr>
          <p:cNvCxnSpPr>
            <a:cxnSpLocks/>
          </p:cNvCxnSpPr>
          <p:nvPr/>
        </p:nvCxnSpPr>
        <p:spPr>
          <a:xfrm>
            <a:off x="2617557" y="1982363"/>
            <a:ext cx="6980" cy="795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F380168-D0B3-01C4-8F9C-64E6D79B5213}"/>
              </a:ext>
            </a:extLst>
          </p:cNvPr>
          <p:cNvCxnSpPr>
            <a:cxnSpLocks/>
          </p:cNvCxnSpPr>
          <p:nvPr/>
        </p:nvCxnSpPr>
        <p:spPr>
          <a:xfrm flipH="1">
            <a:off x="838200" y="3429000"/>
            <a:ext cx="1094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5882C77-F367-4F79-0965-EAF685991807}"/>
              </a:ext>
            </a:extLst>
          </p:cNvPr>
          <p:cNvCxnSpPr>
            <a:cxnSpLocks/>
          </p:cNvCxnSpPr>
          <p:nvPr/>
        </p:nvCxnSpPr>
        <p:spPr>
          <a:xfrm>
            <a:off x="3308592" y="3440882"/>
            <a:ext cx="10830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8855EDA-DBCE-C5FB-B5EF-078DFFEC4AC9}"/>
              </a:ext>
            </a:extLst>
          </p:cNvPr>
          <p:cNvCxnSpPr>
            <a:cxnSpLocks/>
          </p:cNvCxnSpPr>
          <p:nvPr/>
        </p:nvCxnSpPr>
        <p:spPr>
          <a:xfrm>
            <a:off x="2617557" y="4112976"/>
            <a:ext cx="0" cy="84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0CD4FC8F-8D00-475A-B092-5497576627EC}"/>
              </a:ext>
            </a:extLst>
          </p:cNvPr>
          <p:cNvSpPr txBox="1"/>
          <p:nvPr/>
        </p:nvSpPr>
        <p:spPr>
          <a:xfrm>
            <a:off x="1105674" y="307155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X&gt;0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B26BD4E-C5DD-2C2C-5A27-D7B463DDB681}"/>
              </a:ext>
            </a:extLst>
          </p:cNvPr>
          <p:cNvSpPr txBox="1"/>
          <p:nvPr/>
        </p:nvSpPr>
        <p:spPr>
          <a:xfrm>
            <a:off x="3428127" y="3127417"/>
            <a:ext cx="738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X&lt;0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A045D50-EA7C-F245-4325-0756E2C0A931}"/>
              </a:ext>
            </a:extLst>
          </p:cNvPr>
          <p:cNvSpPr txBox="1"/>
          <p:nvPr/>
        </p:nvSpPr>
        <p:spPr>
          <a:xfrm>
            <a:off x="2639079" y="4281098"/>
            <a:ext cx="738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X=0</a:t>
            </a:r>
          </a:p>
        </p:txBody>
      </p:sp>
    </p:spTree>
    <p:extLst>
      <p:ext uri="{BB962C8B-B14F-4D97-AF65-F5344CB8AC3E}">
        <p14:creationId xmlns:p14="http://schemas.microsoft.com/office/powerpoint/2010/main" val="4234510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5DDFA-37E8-E69A-042D-C90A7774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Aktivitätsdiagramm - Zusammenführungen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D5154-D497-B9D0-62B6-0B47B346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39" y="2141537"/>
            <a:ext cx="10515600" cy="4351338"/>
          </a:xfrm>
        </p:spPr>
        <p:txBody>
          <a:bodyPr/>
          <a:lstStyle/>
          <a:p>
            <a:r>
              <a:rPr lang="de-DE" b="1" dirty="0"/>
              <a:t>Zusammenführung</a:t>
            </a:r>
            <a:r>
              <a:rPr lang="de-DE" dirty="0"/>
              <a:t>/</a:t>
            </a:r>
            <a:r>
              <a:rPr lang="de-DE" dirty="0" err="1"/>
              <a:t>Merge</a:t>
            </a:r>
            <a:r>
              <a:rPr lang="de-DE" dirty="0"/>
              <a:t> (</a:t>
            </a:r>
            <a:r>
              <a:rPr lang="de-DE" b="1" dirty="0"/>
              <a:t>ODER</a:t>
            </a:r>
            <a:r>
              <a:rPr lang="de-DE" dirty="0"/>
              <a:t>):</a:t>
            </a:r>
          </a:p>
          <a:p>
            <a:pPr lvl="1"/>
            <a:r>
              <a:rPr lang="de-DE" dirty="0"/>
              <a:t>Wenn mindestens ein Pfeil „reinkommt“, dann geht es weiter</a:t>
            </a:r>
          </a:p>
          <a:p>
            <a:pPr lvl="1"/>
            <a:r>
              <a:rPr lang="de-DE" dirty="0"/>
              <a:t>Verhält sich wie ein logisches ODER</a:t>
            </a:r>
          </a:p>
        </p:txBody>
      </p:sp>
      <p:sp>
        <p:nvSpPr>
          <p:cNvPr id="4" name="Raute 3">
            <a:extLst>
              <a:ext uri="{FF2B5EF4-FFF2-40B4-BE49-F238E27FC236}">
                <a16:creationId xmlns:a16="http://schemas.microsoft.com/office/drawing/2014/main" id="{850B0435-9B83-AEC0-F8FF-C7764BE1B346}"/>
              </a:ext>
            </a:extLst>
          </p:cNvPr>
          <p:cNvSpPr/>
          <p:nvPr/>
        </p:nvSpPr>
        <p:spPr>
          <a:xfrm>
            <a:off x="2889506" y="4248864"/>
            <a:ext cx="914400" cy="914400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22779D54-A697-A4BC-C146-7A8B698652D2}"/>
              </a:ext>
            </a:extLst>
          </p:cNvPr>
          <p:cNvCxnSpPr>
            <a:endCxn id="4" idx="0"/>
          </p:cNvCxnSpPr>
          <p:nvPr/>
        </p:nvCxnSpPr>
        <p:spPr>
          <a:xfrm>
            <a:off x="3346706" y="3585749"/>
            <a:ext cx="0" cy="663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A0D80B-D8D3-7BD4-008B-A624A808D484}"/>
              </a:ext>
            </a:extLst>
          </p:cNvPr>
          <p:cNvCxnSpPr>
            <a:cxnSpLocks/>
          </p:cNvCxnSpPr>
          <p:nvPr/>
        </p:nvCxnSpPr>
        <p:spPr>
          <a:xfrm>
            <a:off x="1840157" y="4706064"/>
            <a:ext cx="10493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BD72C28-C429-A0B4-2DCC-EA0EC20A3E3A}"/>
              </a:ext>
            </a:extLst>
          </p:cNvPr>
          <p:cNvCxnSpPr>
            <a:cxnSpLocks/>
          </p:cNvCxnSpPr>
          <p:nvPr/>
        </p:nvCxnSpPr>
        <p:spPr>
          <a:xfrm flipH="1">
            <a:off x="3803906" y="4706064"/>
            <a:ext cx="1198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D1DFEC1-0905-92B3-6172-00E71F02CF44}"/>
              </a:ext>
            </a:extLst>
          </p:cNvPr>
          <p:cNvCxnSpPr/>
          <p:nvPr/>
        </p:nvCxnSpPr>
        <p:spPr>
          <a:xfrm>
            <a:off x="3346706" y="5163264"/>
            <a:ext cx="0" cy="663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718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44071-4042-969A-886B-1449FE4B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Aktivitätsdiagram</a:t>
            </a:r>
            <a:r>
              <a:rPr lang="de-DE" dirty="0"/>
              <a:t> - </a:t>
            </a:r>
            <a:br>
              <a:rPr lang="de-DE" dirty="0"/>
            </a:br>
            <a:r>
              <a:rPr lang="de-DE" dirty="0"/>
              <a:t>Verzweigungen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E5A1F6D-CBE1-4318-F43C-D7BA2C248507}"/>
              </a:ext>
            </a:extLst>
          </p:cNvPr>
          <p:cNvSpPr txBox="1"/>
          <p:nvPr/>
        </p:nvSpPr>
        <p:spPr>
          <a:xfrm>
            <a:off x="3047419" y="6492875"/>
            <a:ext cx="6097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2"/>
              </a:rPr>
              <a:t>https://commons.wikimedia.org/wiki/Category:UML_activity_diagrams?uselang=de#/media/File:Diagrama_d'Activitats.tiff</a:t>
            </a:r>
            <a:r>
              <a:rPr lang="de-DE" sz="800" dirty="0"/>
              <a:t> </a:t>
            </a:r>
            <a:r>
              <a:rPr lang="de-DE" sz="800" dirty="0">
                <a:hlinkClick r:id="rId3"/>
              </a:rPr>
              <a:t>CC BY-SA 4.0</a:t>
            </a:r>
            <a:r>
              <a:rPr lang="de-DE" sz="800" dirty="0"/>
              <a:t> </a:t>
            </a:r>
            <a:r>
              <a:rPr lang="de-DE" sz="800" dirty="0">
                <a:hlinkClick r:id="rId4" tooltip="User:Jab15pm (page does not exist)"/>
              </a:rPr>
              <a:t>Jab15pm</a:t>
            </a:r>
            <a:r>
              <a:rPr lang="de-DE" sz="800" dirty="0"/>
              <a:t> 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01F8A65-1FBD-E1E0-83CD-22E2B6584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65" y="755611"/>
            <a:ext cx="4206515" cy="534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A29779EF-7649-6CD3-BE48-1ECC156665E6}"/>
                  </a:ext>
                </a:extLst>
              </p14:cNvPr>
              <p14:cNvContentPartPr/>
              <p14:nvPr/>
            </p14:nvContentPartPr>
            <p14:xfrm>
              <a:off x="8345861" y="2833678"/>
              <a:ext cx="1203120" cy="4190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A29779EF-7649-6CD3-BE48-1ECC156665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39741" y="2827558"/>
                <a:ext cx="1215360" cy="4312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D20B73AB-227D-B097-081C-11EBAA3D92D0}"/>
              </a:ext>
            </a:extLst>
          </p:cNvPr>
          <p:cNvSpPr txBox="1"/>
          <p:nvPr/>
        </p:nvSpPr>
        <p:spPr>
          <a:xfrm>
            <a:off x="6491542" y="2930857"/>
            <a:ext cx="207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4F8B"/>
                </a:solidFill>
              </a:rPr>
              <a:t>Verzweigung </a:t>
            </a:r>
            <a:r>
              <a:rPr lang="de-DE" dirty="0" err="1">
                <a:solidFill>
                  <a:srgbClr val="004F8B"/>
                </a:solidFill>
              </a:rPr>
              <a:t>if</a:t>
            </a:r>
            <a:r>
              <a:rPr lang="de-DE" dirty="0">
                <a:solidFill>
                  <a:srgbClr val="004F8B"/>
                </a:solidFill>
              </a:rPr>
              <a:t>/</a:t>
            </a:r>
            <a:r>
              <a:rPr lang="de-DE" dirty="0" err="1">
                <a:solidFill>
                  <a:srgbClr val="004F8B"/>
                </a:solidFill>
              </a:rPr>
              <a:t>else</a:t>
            </a:r>
            <a:endParaRPr lang="de-DE" dirty="0">
              <a:solidFill>
                <a:srgbClr val="004F8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C8C2ED4D-9CC0-044E-F89D-CAA8A5349A4A}"/>
                  </a:ext>
                </a:extLst>
              </p14:cNvPr>
              <p14:cNvContentPartPr/>
              <p14:nvPr/>
            </p14:nvContentPartPr>
            <p14:xfrm>
              <a:off x="7436141" y="4264678"/>
              <a:ext cx="2161800" cy="34272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C8C2ED4D-9CC0-044E-F89D-CAA8A5349A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30021" y="4258558"/>
                <a:ext cx="2174040" cy="3549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1C7BC69B-C29B-320F-CE28-83C6B74EAF1E}"/>
              </a:ext>
            </a:extLst>
          </p:cNvPr>
          <p:cNvSpPr txBox="1"/>
          <p:nvPr/>
        </p:nvSpPr>
        <p:spPr>
          <a:xfrm>
            <a:off x="5251683" y="4238066"/>
            <a:ext cx="207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4F8B"/>
                </a:solidFill>
              </a:rPr>
              <a:t>Zusammenführung</a:t>
            </a:r>
          </a:p>
        </p:txBody>
      </p:sp>
    </p:spTree>
    <p:extLst>
      <p:ext uri="{BB962C8B-B14F-4D97-AF65-F5344CB8AC3E}">
        <p14:creationId xmlns:p14="http://schemas.microsoft.com/office/powerpoint/2010/main" val="2276718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5ED90-66A5-7233-9E51-1F69775F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Swimlanes</a:t>
            </a:r>
            <a:r>
              <a:rPr lang="de-DE" dirty="0"/>
              <a:t> für Akteure - Aktivitätsdiagramm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CE6BF39-738C-12A7-3A63-7016C989E282}"/>
              </a:ext>
            </a:extLst>
          </p:cNvPr>
          <p:cNvSpPr txBox="1"/>
          <p:nvPr/>
        </p:nvSpPr>
        <p:spPr>
          <a:xfrm>
            <a:off x="1028700" y="1843088"/>
            <a:ext cx="28089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Swimlanes</a:t>
            </a:r>
            <a:r>
              <a:rPr lang="de-DE" dirty="0"/>
              <a:t> (auch </a:t>
            </a:r>
            <a:r>
              <a:rPr lang="de-DE" dirty="0" err="1"/>
              <a:t>Partitions</a:t>
            </a:r>
            <a:r>
              <a:rPr lang="de-DE" dirty="0"/>
              <a:t>) strukturieren Aktivitätsdiagramme. </a:t>
            </a:r>
          </a:p>
          <a:p>
            <a:endParaRPr lang="de-DE" dirty="0"/>
          </a:p>
          <a:p>
            <a:r>
              <a:rPr lang="de-DE" dirty="0"/>
              <a:t>Diagramm wird in </a:t>
            </a:r>
            <a:r>
              <a:rPr lang="de-DE" b="1" dirty="0"/>
              <a:t>vertikale oder horizontale Bereiche</a:t>
            </a:r>
            <a:r>
              <a:rPr lang="de-DE" dirty="0"/>
              <a:t> unterteilt</a:t>
            </a:r>
          </a:p>
          <a:p>
            <a:endParaRPr lang="de-DE" dirty="0"/>
          </a:p>
          <a:p>
            <a:r>
              <a:rPr lang="de-DE" dirty="0"/>
              <a:t>Jede </a:t>
            </a:r>
            <a:r>
              <a:rPr lang="de-DE" dirty="0" err="1"/>
              <a:t>Swimlane</a:t>
            </a:r>
            <a:r>
              <a:rPr lang="de-DE" dirty="0"/>
              <a:t> steht für:</a:t>
            </a:r>
          </a:p>
          <a:p>
            <a:r>
              <a:rPr lang="de-DE" dirty="0"/>
              <a:t>eine Rolle (z. B. </a:t>
            </a:r>
            <a:r>
              <a:rPr lang="de-DE" i="1" dirty="0"/>
              <a:t>Kunde</a:t>
            </a:r>
            <a:r>
              <a:rPr lang="de-DE" dirty="0"/>
              <a:t>, </a:t>
            </a:r>
            <a:r>
              <a:rPr lang="de-DE" i="1" dirty="0"/>
              <a:t>Sachbearbeiter</a:t>
            </a:r>
            <a:r>
              <a:rPr lang="de-DE" dirty="0"/>
              <a:t>)</a:t>
            </a:r>
          </a:p>
          <a:p>
            <a:r>
              <a:rPr lang="de-DE" dirty="0"/>
              <a:t>ein System (z. B. </a:t>
            </a:r>
            <a:r>
              <a:rPr lang="de-DE" i="1" dirty="0"/>
              <a:t>Webshop</a:t>
            </a:r>
            <a:r>
              <a:rPr lang="de-DE" dirty="0"/>
              <a:t>, Thread1,2,3 usw.)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8169DD6-FB54-DEF0-1802-BE6913FB9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189" y="1304987"/>
            <a:ext cx="5182476" cy="5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79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86EFA-2FE3-5455-90D9-87258440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Zustandsdiagramm (State </a:t>
            </a:r>
            <a:r>
              <a:rPr lang="de-DE" dirty="0" err="1"/>
              <a:t>Diagram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98378-C758-C46A-F8FE-BACFCDB3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Zweck:</a:t>
            </a:r>
            <a:br>
              <a:rPr lang="de-DE" dirty="0"/>
            </a:br>
            <a:r>
              <a:rPr lang="de-DE" dirty="0"/>
              <a:t>Beschreibt die verschiedenen Zustände eines </a:t>
            </a:r>
            <a:r>
              <a:rPr lang="de-DE" i="1" dirty="0">
                <a:effectLst/>
              </a:rPr>
              <a:t>einzelnen</a:t>
            </a:r>
            <a:r>
              <a:rPr lang="de-DE" dirty="0"/>
              <a:t> Objekts und die Übergänge (Transitionen) durch Ereignisse. Sehr wichtig für Maschinensteuerungen oder den Lebenszyklus von Dokumenten.</a:t>
            </a:r>
          </a:p>
          <a:p>
            <a:endParaRPr lang="de-DE" dirty="0"/>
          </a:p>
        </p:txBody>
      </p:sp>
      <p:pic>
        <p:nvPicPr>
          <p:cNvPr id="6148" name="Picture 4" descr="undefined">
            <a:extLst>
              <a:ext uri="{FF2B5EF4-FFF2-40B4-BE49-F238E27FC236}">
                <a16:creationId xmlns:a16="http://schemas.microsoft.com/office/drawing/2014/main" id="{3F3E21D1-4CA2-453F-C799-218D9C7AB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062" y="3638824"/>
            <a:ext cx="4949952" cy="253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4202B17-3AD6-3C61-E0E3-9A762EAB90D0}"/>
              </a:ext>
            </a:extLst>
          </p:cNvPr>
          <p:cNvSpPr txBox="1"/>
          <p:nvPr/>
        </p:nvSpPr>
        <p:spPr>
          <a:xfrm>
            <a:off x="5652207" y="6169709"/>
            <a:ext cx="60972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https://de.wikipedia.org/wiki/Zustandsdiagramm_(UML)#/media/Datei:Uml-Zustandsdiagramm-5.svg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de:Benutzer:Stkl"/>
              </a:rPr>
              <a:t>Stkl</a:t>
            </a:r>
            <a:r>
              <a:rPr lang="de-DE" sz="800" dirty="0"/>
              <a:t> - </a:t>
            </a:r>
            <a:r>
              <a:rPr lang="de-DE" sz="800" dirty="0" err="1"/>
              <a:t>Redrawn</a:t>
            </a:r>
            <a:r>
              <a:rPr lang="de-DE" sz="800" dirty="0"/>
              <a:t> in SVG, original PNG </a:t>
            </a:r>
            <a:r>
              <a:rPr lang="de-DE" sz="800" dirty="0">
                <a:hlinkClick r:id="rId5" tooltip="File:Statemachine-5.png"/>
              </a:rPr>
              <a:t>Statemachine-5.png</a:t>
            </a:r>
            <a:r>
              <a:rPr lang="de-DE" sz="800" dirty="0"/>
              <a:t> </a:t>
            </a:r>
            <a:r>
              <a:rPr lang="de-DE" sz="800" dirty="0" err="1"/>
              <a:t>by</a:t>
            </a:r>
            <a:r>
              <a:rPr lang="de-DE" sz="800" dirty="0"/>
              <a:t> </a:t>
            </a:r>
            <a:r>
              <a:rPr lang="de-DE" sz="800" dirty="0" err="1">
                <a:hlinkClick r:id="rId6" tooltip="de:Benutzer:Gubaer"/>
              </a:rPr>
              <a:t>Gubaer</a:t>
            </a:r>
            <a:r>
              <a:rPr lang="de-DE" sz="800" dirty="0"/>
              <a:t> </a:t>
            </a:r>
            <a:r>
              <a:rPr lang="de-DE" sz="800" dirty="0">
                <a:hlinkClick r:id="rId7"/>
              </a:rPr>
              <a:t>CC BY-SA 4.0</a:t>
            </a:r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280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62309C-9496-E320-8D4E-A11C9124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Zustände</a:t>
            </a: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F9EB1E42-5B48-FF23-8A79-1F80C50C79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469" y="1690688"/>
            <a:ext cx="55364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207E63-C067-8C81-1093-693D2E7B65BF}"/>
              </a:ext>
            </a:extLst>
          </p:cNvPr>
          <p:cNvSpPr txBox="1"/>
          <p:nvPr/>
        </p:nvSpPr>
        <p:spPr>
          <a:xfrm>
            <a:off x="6096000" y="5941606"/>
            <a:ext cx="60972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https://de.wikipedia.org/wiki/Zustandsdiagramm_(UML)#/media/Datei:Uml-Zustandsdiagramm-2.svg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4.0</a:t>
            </a:r>
            <a:r>
              <a:rPr lang="de-DE" sz="800" dirty="0"/>
              <a:t> </a:t>
            </a:r>
            <a:r>
              <a:rPr lang="de-DE" sz="800" dirty="0" err="1">
                <a:hlinkClick r:id="rId5" tooltip="de:Benutzer:Gubaer"/>
              </a:rPr>
              <a:t>Gubaer</a:t>
            </a:r>
            <a:endParaRPr lang="de-DE" sz="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C1B0172-94C4-60B8-C5E9-12C96C7926B5}"/>
              </a:ext>
            </a:extLst>
          </p:cNvPr>
          <p:cNvSpPr txBox="1"/>
          <p:nvPr/>
        </p:nvSpPr>
        <p:spPr>
          <a:xfrm>
            <a:off x="766038" y="2019779"/>
            <a:ext cx="4811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Ein Zustand wird im Diagramm als Rechteck mit abgerundeten Ecken dargestellt und mit dem Namen des Zustands beschriftet. </a:t>
            </a:r>
          </a:p>
        </p:txBody>
      </p:sp>
    </p:spTree>
    <p:extLst>
      <p:ext uri="{BB962C8B-B14F-4D97-AF65-F5344CB8AC3E}">
        <p14:creationId xmlns:p14="http://schemas.microsoft.com/office/powerpoint/2010/main" val="273712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CC605-4ABC-A0AF-3AF9-99779EF1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Zustandsdiagramm</a:t>
            </a:r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69EA0245-8E5F-2D1F-876A-F23963C6CD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436" y="1558065"/>
            <a:ext cx="312670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19DBF78-AEF4-495A-FA61-458F48D27D03}"/>
              </a:ext>
            </a:extLst>
          </p:cNvPr>
          <p:cNvSpPr txBox="1"/>
          <p:nvPr/>
        </p:nvSpPr>
        <p:spPr>
          <a:xfrm>
            <a:off x="838200" y="1690688"/>
            <a:ext cx="60971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b="1" dirty="0"/>
              <a:t>Pseudo-Zustände</a:t>
            </a:r>
          </a:p>
          <a:p>
            <a:pPr>
              <a:buNone/>
            </a:pPr>
            <a:endParaRPr lang="de-DE" sz="2400" b="1" dirty="0"/>
          </a:p>
          <a:p>
            <a:pPr>
              <a:buNone/>
            </a:pPr>
            <a:r>
              <a:rPr lang="de-DE" sz="2400" b="1" dirty="0"/>
              <a:t>Pseudozustände</a:t>
            </a:r>
            <a:r>
              <a:rPr lang="de-DE" sz="2400" dirty="0"/>
              <a:t> (auch </a:t>
            </a:r>
            <a:r>
              <a:rPr lang="de-DE" sz="2400" i="1" dirty="0" err="1"/>
              <a:t>Pseudostates</a:t>
            </a:r>
            <a:r>
              <a:rPr lang="de-DE" sz="2400" dirty="0"/>
              <a:t>) sind spezielle Elemente in </a:t>
            </a:r>
            <a:r>
              <a:rPr lang="de-DE" sz="2400" b="1" dirty="0"/>
              <a:t>UML-Zustandsdiagrammen</a:t>
            </a:r>
            <a:r>
              <a:rPr lang="de-DE" sz="2400" dirty="0"/>
              <a:t>, die </a:t>
            </a:r>
            <a:r>
              <a:rPr lang="de-DE" sz="2400" b="1" dirty="0"/>
              <a:t>keine echten Zustände</a:t>
            </a:r>
            <a:r>
              <a:rPr lang="de-DE" sz="2400" dirty="0"/>
              <a:t> darstellen. </a:t>
            </a:r>
          </a:p>
          <a:p>
            <a:pPr>
              <a:buNone/>
            </a:pPr>
            <a:endParaRPr lang="de-DE" sz="2400" dirty="0"/>
          </a:p>
          <a:p>
            <a:pPr>
              <a:buNone/>
            </a:pPr>
            <a:r>
              <a:rPr lang="de-DE" sz="2400" dirty="0"/>
              <a:t>Sie beschreiben vielmehr </a:t>
            </a:r>
            <a:r>
              <a:rPr lang="de-DE" sz="2400" b="1" dirty="0"/>
              <a:t>Steuerungs-, Start- oder Entscheidungslogik</a:t>
            </a:r>
            <a:r>
              <a:rPr lang="de-DE" sz="2400" dirty="0"/>
              <a:t> innerhalb des Ablaufs einer Zustandsmaschine. In ihnen verweilt ein Objekt </a:t>
            </a:r>
            <a:r>
              <a:rPr lang="de-DE" sz="2400" b="1" dirty="0"/>
              <a:t>nicht</a:t>
            </a:r>
            <a:r>
              <a:rPr lang="de-DE" sz="2400" dirty="0"/>
              <a:t> – sie werden sofort „durchlaufen“.</a:t>
            </a:r>
            <a:endParaRPr lang="de-DE" sz="24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E73E35-BDE7-8A20-0C01-AE85B35A7482}"/>
              </a:ext>
            </a:extLst>
          </p:cNvPr>
          <p:cNvSpPr txBox="1"/>
          <p:nvPr/>
        </p:nvSpPr>
        <p:spPr>
          <a:xfrm>
            <a:off x="6175691" y="6277431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https://de.wikipedia.org/wiki/Zustandsdiagramm_(UML)#/media/Datei:Uml-Zustandsdiagramm-4.svg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4.0</a:t>
            </a:r>
            <a:r>
              <a:rPr lang="de-DE" sz="800" dirty="0"/>
              <a:t> </a:t>
            </a:r>
            <a:r>
              <a:rPr lang="de-DE" sz="800" dirty="0" err="1">
                <a:hlinkClick r:id="rId5" tooltip="de:Benutzer:Gubaer"/>
              </a:rPr>
              <a:t>Gubaer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136610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F7B2F-3140-BDCC-3053-5FAAF576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History</a:t>
            </a:r>
            <a:r>
              <a:rPr lang="de-DE" dirty="0"/>
              <a:t>-Zustände in UML-Zustandsdiagrammen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94571-BE16-95D5-0358-F6B8DF29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Zweck</a:t>
            </a:r>
          </a:p>
          <a:p>
            <a:pPr lvl="1"/>
            <a:r>
              <a:rPr lang="de-DE" dirty="0"/>
              <a:t>Speichern den zuletzt aktiven Subzustand eines komplexen Zustands. </a:t>
            </a:r>
          </a:p>
          <a:p>
            <a:pPr lvl="1"/>
            <a:r>
              <a:rPr lang="de-DE" dirty="0"/>
              <a:t>Ermöglichen die Rückkehr zu genau diesem Subzustand nach einer äußeren Transition. </a:t>
            </a:r>
          </a:p>
          <a:p>
            <a:r>
              <a:rPr lang="de-DE" b="1" dirty="0"/>
              <a:t>Funktionsweise</a:t>
            </a:r>
          </a:p>
          <a:p>
            <a:pPr lvl="1"/>
            <a:r>
              <a:rPr lang="de-DE" dirty="0"/>
              <a:t>Komplexer Zustand wird verlassen. </a:t>
            </a:r>
          </a:p>
          <a:p>
            <a:pPr lvl="1"/>
            <a:r>
              <a:rPr lang="de-DE" dirty="0"/>
              <a:t>Aktiver Subzustand wird gespeichert. </a:t>
            </a:r>
          </a:p>
          <a:p>
            <a:pPr lvl="1"/>
            <a:r>
              <a:rPr lang="de-DE" dirty="0"/>
              <a:t>Rückkehr über den </a:t>
            </a:r>
            <a:r>
              <a:rPr lang="de-DE" dirty="0" err="1"/>
              <a:t>History</a:t>
            </a:r>
            <a:r>
              <a:rPr lang="de-DE" dirty="0"/>
              <a:t>-Zustand. </a:t>
            </a:r>
          </a:p>
          <a:p>
            <a:pPr lvl="1"/>
            <a:r>
              <a:rPr lang="de-DE" dirty="0"/>
              <a:t>Gespeicherter Subzustand wird reaktiviert. </a:t>
            </a:r>
          </a:p>
          <a:p>
            <a:pPr lvl="1"/>
            <a:r>
              <a:rPr lang="de-DE" dirty="0"/>
              <a:t>Alle </a:t>
            </a:r>
            <a:r>
              <a:rPr lang="de-DE" b="1" dirty="0"/>
              <a:t>Entry-Aktivitäten</a:t>
            </a:r>
            <a:r>
              <a:rPr lang="de-DE" dirty="0"/>
              <a:t> werden von außen nach innen ausgeführt.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727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BEC68-EB0B-04BD-6C58-817E8C6A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Flacher </a:t>
            </a:r>
            <a:r>
              <a:rPr lang="de-DE" dirty="0" err="1"/>
              <a:t>History</a:t>
            </a:r>
            <a:r>
              <a:rPr lang="de-DE" dirty="0"/>
              <a:t>-Zustand (H)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E8C138-13DE-0393-0769-D9026127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416" y="1825625"/>
            <a:ext cx="5822460" cy="3645367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62947AE-A278-1408-4012-81006F5CB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0521" cy="4351338"/>
          </a:xfrm>
        </p:spPr>
        <p:txBody>
          <a:bodyPr>
            <a:normAutofit fontScale="85000" lnSpcReduction="10000"/>
          </a:bodyPr>
          <a:lstStyle/>
          <a:p>
            <a:pPr fontAlgn="ctr"/>
            <a:r>
              <a:rPr lang="de-DE" dirty="0"/>
              <a:t>Stellt den </a:t>
            </a:r>
            <a:r>
              <a:rPr lang="de-DE" b="1" dirty="0"/>
              <a:t>zuletzt aktiven Subzustand auf derselben Ebene </a:t>
            </a:r>
            <a:r>
              <a:rPr lang="de-DE" dirty="0"/>
              <a:t>wieder her.</a:t>
            </a:r>
          </a:p>
          <a:p>
            <a:pPr fontAlgn="ctr"/>
            <a:r>
              <a:rPr lang="de-DE" dirty="0"/>
              <a:t>Berücksichtigt keine tiefer verschachtelten Zustände.</a:t>
            </a:r>
          </a:p>
          <a:p>
            <a:pPr fontAlgn="ctr"/>
            <a:r>
              <a:rPr lang="de-DE" dirty="0"/>
              <a:t>Wenn man vom Zustand schlafend per Wecker geweckt wird, nimmt man wieder den Subzustand von wach ein, den man vor dem Einschlafen hatte (also </a:t>
            </a:r>
            <a:r>
              <a:rPr lang="de-DE" b="1" dirty="0"/>
              <a:t>satt</a:t>
            </a:r>
            <a:r>
              <a:rPr lang="de-DE" dirty="0"/>
              <a:t> oder </a:t>
            </a:r>
            <a:r>
              <a:rPr lang="de-DE" b="1" dirty="0"/>
              <a:t>überfressen</a:t>
            </a:r>
            <a:r>
              <a:rPr lang="de-DE" dirty="0"/>
              <a:t>)</a:t>
            </a:r>
          </a:p>
          <a:p>
            <a:pPr fontAlgn="ctr"/>
            <a:r>
              <a:rPr lang="de-DE" dirty="0"/>
              <a:t>Wenn der Zustand bislang nicht betreten wurde, wird der Zustand auf den </a:t>
            </a:r>
            <a:r>
              <a:rPr lang="de-DE" b="1" dirty="0"/>
              <a:t>H</a:t>
            </a:r>
            <a:r>
              <a:rPr lang="de-DE" dirty="0"/>
              <a:t> zeigt angenommen (</a:t>
            </a:r>
            <a:r>
              <a:rPr lang="de-DE" b="1" dirty="0"/>
              <a:t>hungrig</a:t>
            </a:r>
            <a:r>
              <a:rPr lang="de-DE" dirty="0"/>
              <a:t>)</a:t>
            </a:r>
          </a:p>
          <a:p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C1965E7-E150-15B3-A894-FA8ACBC9D2F4}"/>
              </a:ext>
            </a:extLst>
          </p:cNvPr>
          <p:cNvSpPr txBox="1"/>
          <p:nvPr/>
        </p:nvSpPr>
        <p:spPr>
          <a:xfrm>
            <a:off x="-1162" y="6642556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i="1" dirty="0"/>
              <a:t>“</a:t>
            </a:r>
            <a:r>
              <a:rPr lang="de-DE" sz="800" i="1" dirty="0">
                <a:hlinkClick r:id="rId3"/>
              </a:rPr>
              <a:t>UML-Zustandsdiagramm</a:t>
            </a:r>
            <a:r>
              <a:rPr lang="de-DE" sz="800" i="1" dirty="0"/>
              <a:t>” von Hannes Stein, Lizenz: </a:t>
            </a:r>
            <a:r>
              <a:rPr lang="de-DE" sz="800" i="1" dirty="0">
                <a:hlinkClick r:id="rId4"/>
              </a:rPr>
              <a:t>CC BY 4.0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7756836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3E8FD6-1B4E-83FE-4456-11BE72A8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Tiefer </a:t>
            </a:r>
            <a:r>
              <a:rPr lang="de-DE" dirty="0" err="1"/>
              <a:t>History</a:t>
            </a:r>
            <a:r>
              <a:rPr lang="de-DE" dirty="0"/>
              <a:t>-Zustand (H*)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2AEC21-6504-BEC7-AF8F-F9E9D5D72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006026" cy="4351338"/>
          </a:xfrm>
        </p:spPr>
        <p:txBody>
          <a:bodyPr>
            <a:normAutofit fontScale="85000" lnSpcReduction="20000"/>
          </a:bodyPr>
          <a:lstStyle/>
          <a:p>
            <a:pPr fontAlgn="ctr"/>
            <a:r>
              <a:rPr lang="de-DE" dirty="0"/>
              <a:t>Stellt den </a:t>
            </a:r>
            <a:r>
              <a:rPr lang="de-DE" b="1" dirty="0"/>
              <a:t>zuletzt aktiven Subzustand über alle Schachtelungsebenen hinweg</a:t>
            </a:r>
            <a:r>
              <a:rPr lang="de-DE" dirty="0"/>
              <a:t> wieder her.</a:t>
            </a:r>
          </a:p>
          <a:p>
            <a:pPr fontAlgn="ctr"/>
            <a:r>
              <a:rPr lang="de-DE" dirty="0"/>
              <a:t>Berücksichtigt die gesamte Zustands-Hierarchie.</a:t>
            </a:r>
          </a:p>
          <a:p>
            <a:r>
              <a:rPr lang="de-DE" dirty="0"/>
              <a:t>Wenn der Wecker klingelt und der letzte Subzustand von wach war hungrig, dann wechselt das System auch unmittelbar wieder in den vorigen Subzustand von hungrig (also </a:t>
            </a:r>
            <a:r>
              <a:rPr lang="de-DE" b="1" dirty="0"/>
              <a:t>vegetarisch</a:t>
            </a:r>
            <a:r>
              <a:rPr lang="de-DE" dirty="0"/>
              <a:t> oder </a:t>
            </a:r>
            <a:r>
              <a:rPr lang="de-DE" b="1" dirty="0"/>
              <a:t>omnivor</a:t>
            </a:r>
            <a:r>
              <a:rPr lang="de-DE" dirty="0"/>
              <a:t>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4DD580-1DF9-00D8-064F-F7BCFE33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2000218"/>
            <a:ext cx="7309572" cy="366378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DE9E0B3-58EE-4328-CB53-36AEB8091D70}"/>
              </a:ext>
            </a:extLst>
          </p:cNvPr>
          <p:cNvSpPr txBox="1"/>
          <p:nvPr/>
        </p:nvSpPr>
        <p:spPr>
          <a:xfrm>
            <a:off x="-1162" y="6642556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i="1" dirty="0"/>
              <a:t>“</a:t>
            </a:r>
            <a:r>
              <a:rPr lang="de-DE" sz="800" i="1" dirty="0">
                <a:hlinkClick r:id="rId3"/>
              </a:rPr>
              <a:t>UML-Zustandsdiagramm</a:t>
            </a:r>
            <a:r>
              <a:rPr lang="de-DE" sz="800" i="1" dirty="0"/>
              <a:t>” von Hannes Stein, Lizenz: </a:t>
            </a:r>
            <a:r>
              <a:rPr lang="de-DE" sz="800" i="1" dirty="0">
                <a:hlinkClick r:id="rId4"/>
              </a:rPr>
              <a:t>CC BY 4.0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845385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77C2E-14FC-2862-0634-44726115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Zustandsdiagramm</a:t>
            </a:r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3753A21-00E9-DD1A-2004-C7A173693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023"/>
            <a:ext cx="5120911" cy="4318174"/>
          </a:xfrm>
          <a:prstGeom prst="rect">
            <a:avLst/>
          </a:prstGeom>
        </p:spPr>
      </p:pic>
      <p:pic>
        <p:nvPicPr>
          <p:cNvPr id="7" name="Grafik 6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84D81D0C-A02F-8784-57A8-32E340D2C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391" y="1943023"/>
            <a:ext cx="4261356" cy="431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71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B020C-AF2A-CA80-479B-E67510E6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8F4CF-1B4A-7F3C-BC0A-9FDD8903F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b="1" dirty="0"/>
          </a:p>
          <a:p>
            <a:r>
              <a:rPr lang="de-DE" b="1" dirty="0"/>
              <a:t>Szenario:</a:t>
            </a:r>
            <a:r>
              <a:rPr lang="de-DE" dirty="0"/>
              <a:t> Eine </a:t>
            </a:r>
            <a:r>
              <a:rPr lang="de-DE" b="1" dirty="0"/>
              <a:t>Ampel</a:t>
            </a:r>
            <a:r>
              <a:rPr lang="de-DE" dirty="0"/>
              <a:t>.</a:t>
            </a:r>
          </a:p>
          <a:p>
            <a:r>
              <a:rPr lang="de-DE" dirty="0"/>
              <a:t>Welches Diagramm eignet sich am besten, um die Phasen (Rot, Gelb, Grün) und deren Wechsel zu modellieren?</a:t>
            </a:r>
          </a:p>
          <a:p>
            <a:r>
              <a:rPr lang="de-DE" dirty="0"/>
              <a:t>Erstelle ein geeignetes UML Diagramm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3230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4F459-2AD6-CE0B-1EAB-B98D14B4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EE86D4-5C14-4484-09F6-AE0A5D048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3980" cy="4351338"/>
          </a:xfrm>
        </p:spPr>
        <p:txBody>
          <a:bodyPr/>
          <a:lstStyle/>
          <a:p>
            <a:r>
              <a:rPr lang="de-DE" b="1" dirty="0"/>
              <a:t>1. Antwort:</a:t>
            </a:r>
            <a:r>
              <a:rPr lang="de-DE" dirty="0"/>
              <a:t> Das </a:t>
            </a:r>
            <a:r>
              <a:rPr lang="de-DE" b="1" dirty="0"/>
              <a:t>Zustandsdiagramm</a:t>
            </a:r>
            <a:r>
              <a:rPr lang="de-DE" dirty="0"/>
              <a:t> (State </a:t>
            </a:r>
            <a:r>
              <a:rPr lang="de-DE" dirty="0" err="1"/>
              <a:t>Diagram</a:t>
            </a:r>
            <a:r>
              <a:rPr lang="de-DE" dirty="0"/>
              <a:t>), da es den Lebenszyklus und die Statusänderungen eines Objekts beschreibt.</a:t>
            </a:r>
          </a:p>
          <a:p>
            <a:endParaRPr lang="de-DE" dirty="0"/>
          </a:p>
        </p:txBody>
      </p:sp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23C724F-42AA-214C-D146-A0908A99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52" y="1825625"/>
            <a:ext cx="2617393" cy="466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5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9D310-874C-771B-DAE1-4D34F1B1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Verteilungsdiagramm (</a:t>
            </a:r>
            <a:r>
              <a:rPr lang="de-DE" dirty="0" err="1"/>
              <a:t>Deployment</a:t>
            </a:r>
            <a:r>
              <a:rPr lang="de-DE" dirty="0"/>
              <a:t> Diagramm)</a:t>
            </a:r>
          </a:p>
        </p:txBody>
      </p:sp>
      <p:pic>
        <p:nvPicPr>
          <p:cNvPr id="16386" name="Picture 2" descr="undefined">
            <a:extLst>
              <a:ext uri="{FF2B5EF4-FFF2-40B4-BE49-F238E27FC236}">
                <a16:creationId xmlns:a16="http://schemas.microsoft.com/office/drawing/2014/main" id="{C49DD29B-476F-0ACD-7430-08BF060F4B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911" y="1690688"/>
            <a:ext cx="74250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83B36654-4948-48CC-50C1-D55884552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11" y="1766968"/>
            <a:ext cx="45339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gibt zwei Arten von Knoten: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Geräteknoten (Device Node)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Ausführungsumgebungs-Knoten (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Environment Node)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Geräteknoten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sind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physische Rechenressourcen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mit Rechenleistung, Speicher und Diensten zur Ausführung von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Ein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Ausführungsumgebungs-Knoten (EEN)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 eine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softwarebasierte Rechenressource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die innerhalb eines übergeordneten Knotens läuft und selbst einen Dienst bereitstellt, um andere ausführbare Softwareelemente zu hosten und auszuführen.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4FC76EE-F00D-735B-F59B-8E9F39581BA2}"/>
              </a:ext>
            </a:extLst>
          </p:cNvPr>
          <p:cNvSpPr txBox="1"/>
          <p:nvPr/>
        </p:nvSpPr>
        <p:spPr>
          <a:xfrm>
            <a:off x="4724497" y="6118306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https://en.wikipedia.org/wiki/Deployment_diagram#/media/File:Deployment_Diagram.PNG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r>
              <a:rPr lang="de-DE" sz="800" dirty="0"/>
              <a:t> </a:t>
            </a:r>
            <a:r>
              <a:rPr lang="de-DE" sz="800" dirty="0" err="1">
                <a:hlinkClick r:id="rId5" tooltip="User:Kishorekumar 62 (page does not exist)"/>
              </a:rPr>
              <a:t>Kishorekumar</a:t>
            </a:r>
            <a:r>
              <a:rPr lang="de-DE" sz="800" dirty="0">
                <a:hlinkClick r:id="rId5" tooltip="User:Kishorekumar 62 (page does not exist)"/>
              </a:rPr>
              <a:t> 62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3256904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1ED48CD6-A7E4-09E9-91BF-DE9132F515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9" y="295901"/>
            <a:ext cx="10174607" cy="596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71AD4F5-7AB6-F8F4-D350-F129850ECA89}"/>
              </a:ext>
            </a:extLst>
          </p:cNvPr>
          <p:cNvSpPr txBox="1"/>
          <p:nvPr/>
        </p:nvSpPr>
        <p:spPr>
          <a:xfrm>
            <a:off x="640429" y="6258544"/>
            <a:ext cx="101159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https://en.wikipedia.org/wiki/Deployment_diagram#/media/File:Deployment_Diagram.PNG</a:t>
            </a:r>
            <a:r>
              <a:rPr lang="de-DE" sz="800" dirty="0"/>
              <a:t> </a:t>
            </a:r>
            <a:r>
              <a:rPr lang="de-DE" sz="800" dirty="0">
                <a:hlinkClick r:id="rId4"/>
              </a:rPr>
              <a:t>CC BY-SA 3.0</a:t>
            </a:r>
            <a:r>
              <a:rPr lang="de-DE" sz="800" dirty="0"/>
              <a:t> </a:t>
            </a:r>
            <a:r>
              <a:rPr lang="de-DE" sz="800" dirty="0" err="1">
                <a:hlinkClick r:id="rId5" tooltip="User:Kishorekumar 62 (page does not exist)"/>
              </a:rPr>
              <a:t>Kishorekumar</a:t>
            </a:r>
            <a:r>
              <a:rPr lang="de-DE" sz="800" dirty="0">
                <a:hlinkClick r:id="rId5" tooltip="User:Kishorekumar 62 (page does not exist)"/>
              </a:rPr>
              <a:t> 62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9522472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undefined">
            <a:extLst>
              <a:ext uri="{FF2B5EF4-FFF2-40B4-BE49-F238E27FC236}">
                <a16:creationId xmlns:a16="http://schemas.microsoft.com/office/drawing/2014/main" id="{DC6EDA6A-750B-D78A-AF49-631B90473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11" y="0"/>
            <a:ext cx="9664065" cy="683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C50E0BF-AC16-695F-11FE-A876FB252231}"/>
              </a:ext>
            </a:extLst>
          </p:cNvPr>
          <p:cNvSpPr txBox="1"/>
          <p:nvPr/>
        </p:nvSpPr>
        <p:spPr>
          <a:xfrm>
            <a:off x="0" y="6642556"/>
            <a:ext cx="6097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hlinkClick r:id="rId3"/>
              </a:rPr>
              <a:t>https://de.wikipedia.org/wiki/Unified_Modeling_Language#/media/Datei:UML-Diagramme.svg</a:t>
            </a:r>
            <a:r>
              <a:rPr lang="de-DE" sz="800" dirty="0"/>
              <a:t> </a:t>
            </a:r>
            <a:r>
              <a:rPr lang="de-DE" sz="800" dirty="0" err="1">
                <a:hlinkClick r:id="rId4" tooltip="User:MetaMarph (page does not exist)"/>
              </a:rPr>
              <a:t>MetaMarph</a:t>
            </a:r>
            <a:r>
              <a:rPr lang="de-DE" sz="800" dirty="0"/>
              <a:t> </a:t>
            </a:r>
            <a:r>
              <a:rPr lang="de-DE" sz="800" dirty="0">
                <a:hlinkClick r:id="rId5"/>
              </a:rPr>
              <a:t>CC BY-SA 3.0</a:t>
            </a:r>
            <a:endParaRPr lang="de-DE" sz="80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EE942E1-8DE6-7FE5-01E1-8285EE5675CB}"/>
              </a:ext>
            </a:extLst>
          </p:cNvPr>
          <p:cNvGrpSpPr/>
          <p:nvPr/>
        </p:nvGrpSpPr>
        <p:grpSpPr>
          <a:xfrm>
            <a:off x="10149137" y="3361140"/>
            <a:ext cx="241560" cy="77040"/>
            <a:chOff x="10149137" y="3361140"/>
            <a:chExt cx="241560" cy="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30437F3E-891D-E5A5-5B13-6BA1DFC639F9}"/>
                    </a:ext>
                  </a:extLst>
                </p14:cNvPr>
                <p14:cNvContentPartPr/>
                <p14:nvPr/>
              </p14:nvContentPartPr>
              <p14:xfrm>
                <a:off x="10149137" y="3399300"/>
                <a:ext cx="229320" cy="468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30437F3E-891D-E5A5-5B13-6BA1DFC639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43017" y="3393180"/>
                  <a:ext cx="2415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CB1944C4-4E35-FC8C-9AA3-F20A3883E22C}"/>
                    </a:ext>
                  </a:extLst>
                </p14:cNvPr>
                <p14:cNvContentPartPr/>
                <p14:nvPr/>
              </p14:nvContentPartPr>
              <p14:xfrm>
                <a:off x="10350377" y="3361140"/>
                <a:ext cx="38160" cy="3132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CB1944C4-4E35-FC8C-9AA3-F20A3883E2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44257" y="3355020"/>
                  <a:ext cx="50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8CD4941C-C379-716D-1059-784D10350BBB}"/>
                    </a:ext>
                  </a:extLst>
                </p14:cNvPr>
                <p14:cNvContentPartPr/>
                <p14:nvPr/>
              </p14:nvContentPartPr>
              <p14:xfrm>
                <a:off x="10330217" y="3403620"/>
                <a:ext cx="60480" cy="3456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8CD4941C-C379-716D-1059-784D10350B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4097" y="3397500"/>
                  <a:ext cx="7272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6A1A3065-7DD3-063E-6995-F18193CBA994}"/>
              </a:ext>
            </a:extLst>
          </p:cNvPr>
          <p:cNvGrpSpPr/>
          <p:nvPr/>
        </p:nvGrpSpPr>
        <p:grpSpPr>
          <a:xfrm>
            <a:off x="9111617" y="3754980"/>
            <a:ext cx="72720" cy="120960"/>
            <a:chOff x="9111617" y="3754980"/>
            <a:chExt cx="7272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0D9A18BC-805F-ADFE-9F34-9BD08A84376A}"/>
                    </a:ext>
                  </a:extLst>
                </p14:cNvPr>
                <p14:cNvContentPartPr/>
                <p14:nvPr/>
              </p14:nvContentPartPr>
              <p14:xfrm>
                <a:off x="9111617" y="3754980"/>
                <a:ext cx="60120" cy="5472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0D9A18BC-805F-ADFE-9F34-9BD08A8437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05497" y="3748860"/>
                  <a:ext cx="72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5C204919-E116-EF91-37BE-229FE6F6D4B4}"/>
                    </a:ext>
                  </a:extLst>
                </p14:cNvPr>
                <p14:cNvContentPartPr/>
                <p14:nvPr/>
              </p14:nvContentPartPr>
              <p14:xfrm>
                <a:off x="9123137" y="3816180"/>
                <a:ext cx="61200" cy="5472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5C204919-E116-EF91-37BE-229FE6F6D4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17017" y="3810060"/>
                  <a:ext cx="73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B0697CDD-4FA8-BFCB-203D-DF3465D58613}"/>
                    </a:ext>
                  </a:extLst>
                </p14:cNvPr>
                <p14:cNvContentPartPr/>
                <p14:nvPr/>
              </p14:nvContentPartPr>
              <p14:xfrm>
                <a:off x="9120257" y="3769740"/>
                <a:ext cx="2880" cy="10620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B0697CDD-4FA8-BFCB-203D-DF3465D5861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14137" y="3763620"/>
                  <a:ext cx="15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692F7150-574E-320C-89DE-682D64BD477E}"/>
                    </a:ext>
                  </a:extLst>
                </p14:cNvPr>
                <p14:cNvContentPartPr/>
                <p14:nvPr/>
              </p14:nvContentPartPr>
              <p14:xfrm>
                <a:off x="9131057" y="3794940"/>
                <a:ext cx="2520" cy="3348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692F7150-574E-320C-89DE-682D64BD47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24937" y="3788820"/>
                  <a:ext cx="14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Freihand 22">
                  <a:extLst>
                    <a:ext uri="{FF2B5EF4-FFF2-40B4-BE49-F238E27FC236}">
                      <a16:creationId xmlns:a16="http://schemas.microsoft.com/office/drawing/2014/main" id="{DC28715B-F761-15B0-CB97-B86758867BB0}"/>
                    </a:ext>
                  </a:extLst>
                </p14:cNvPr>
                <p14:cNvContentPartPr/>
                <p14:nvPr/>
              </p14:nvContentPartPr>
              <p14:xfrm>
                <a:off x="9128897" y="3794940"/>
                <a:ext cx="21600" cy="60120"/>
              </p14:xfrm>
            </p:contentPart>
          </mc:Choice>
          <mc:Fallback xmlns="">
            <p:pic>
              <p:nvPicPr>
                <p:cNvPr id="23" name="Freihand 22">
                  <a:extLst>
                    <a:ext uri="{FF2B5EF4-FFF2-40B4-BE49-F238E27FC236}">
                      <a16:creationId xmlns:a16="http://schemas.microsoft.com/office/drawing/2014/main" id="{DC28715B-F761-15B0-CB97-B86758867B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22777" y="3788820"/>
                  <a:ext cx="33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60FCF657-05C7-A849-4053-D7BAD826687B}"/>
                    </a:ext>
                  </a:extLst>
                </p14:cNvPr>
                <p14:cNvContentPartPr/>
                <p14:nvPr/>
              </p14:nvContentPartPr>
              <p14:xfrm>
                <a:off x="9136817" y="3814020"/>
                <a:ext cx="20160" cy="3132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60FCF657-05C7-A849-4053-D7BAD82668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30697" y="3807900"/>
                  <a:ext cx="32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22AF466B-C362-45EE-B8E8-9F4D52D1CB22}"/>
                    </a:ext>
                  </a:extLst>
                </p14:cNvPr>
                <p14:cNvContentPartPr/>
                <p14:nvPr/>
              </p14:nvContentPartPr>
              <p14:xfrm>
                <a:off x="9150497" y="3818340"/>
                <a:ext cx="12960" cy="3312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22AF466B-C362-45EE-B8E8-9F4D52D1CB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4377" y="3812220"/>
                  <a:ext cx="2520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256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2886</Words>
  <Application>Microsoft Macintosh PowerPoint</Application>
  <PresentationFormat>Breitbild</PresentationFormat>
  <Paragraphs>315</Paragraphs>
  <Slides>58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Courier New</vt:lpstr>
      <vt:lpstr>Office</vt:lpstr>
      <vt:lpstr>UML Diagramme</vt:lpstr>
      <vt:lpstr>Einführung in UML (Unified Modeling Language)</vt:lpstr>
      <vt:lpstr>Übersicht UML Diagramm Hierarchie</vt:lpstr>
      <vt:lpstr>Use Case Diagramm (Anwendungsfalldiagramm)</vt:lpstr>
      <vt:lpstr>Use Case Anwendungsfalldiagramm</vt:lpstr>
      <vt:lpstr>Use Case Diagramm komplexeres Beispiel</vt:lpstr>
      <vt:lpstr>Generalisierung Use Case Diagramm</vt:lpstr>
      <vt:lpstr>Use Case Diagramm Beziehungen</vt:lpstr>
      <vt:lpstr>Use Case Diagramme – extension points</vt:lpstr>
      <vt:lpstr>Beispiel Use Case Diagramm</vt:lpstr>
      <vt:lpstr>Klassendiagramm (Struktur)</vt:lpstr>
      <vt:lpstr>Klassendiagramme Syntax</vt:lpstr>
      <vt:lpstr>Klassendiagramm</vt:lpstr>
      <vt:lpstr>Multiplizität/Kardinalität (UML)</vt:lpstr>
      <vt:lpstr>Klassendiagramm</vt:lpstr>
      <vt:lpstr>Klassendiagramm</vt:lpstr>
      <vt:lpstr>Interfaces</vt:lpstr>
      <vt:lpstr>Interfaces in Java</vt:lpstr>
      <vt:lpstr>Darstellung in UML</vt:lpstr>
      <vt:lpstr>Klassendiagramme - Gerichtete Assoziation (Directed Association)</vt:lpstr>
      <vt:lpstr>Klassendiagramme Abhängigkeit (Dependency)</vt:lpstr>
      <vt:lpstr>Beispiel kombiniert</vt:lpstr>
      <vt:lpstr>Aggregation und Komposition</vt:lpstr>
      <vt:lpstr>Beispiel Aggregation</vt:lpstr>
      <vt:lpstr>Aggregation und Komposition</vt:lpstr>
      <vt:lpstr>Beispiel Komposition</vt:lpstr>
      <vt:lpstr>Objektdiagramm</vt:lpstr>
      <vt:lpstr>Sequenzdiagramm (Verhalten / Interaktion)</vt:lpstr>
      <vt:lpstr>Sequenzdiagramm</vt:lpstr>
      <vt:lpstr>Sequenzdiagramm Aufgabe</vt:lpstr>
      <vt:lpstr>Lösung Sequenzdiagramm Aufgabe </vt:lpstr>
      <vt:lpstr>Sequenzdiagramm (Nachrichten/Messages)</vt:lpstr>
      <vt:lpstr>Sequenzdiagramm (Nachrichten/Messages)</vt:lpstr>
      <vt:lpstr>Sequenzdiagramm (Nachrichten/Messages)</vt:lpstr>
      <vt:lpstr>Strukturierungselemente (Interaktionsfragmente)</vt:lpstr>
      <vt:lpstr>Strukturierungselemente (Interaktionsfragmente)</vt:lpstr>
      <vt:lpstr>PowerPoint-Präsentation</vt:lpstr>
      <vt:lpstr>Aktivitätsdiagramm (Verhalten / Ablauf)</vt:lpstr>
      <vt:lpstr>UML 1 vs UML 2 Aktivitätsdiagramm</vt:lpstr>
      <vt:lpstr>PowerPoint-Präsentation</vt:lpstr>
      <vt:lpstr>Symbole</vt:lpstr>
      <vt:lpstr>Aktivitätsdiagramm</vt:lpstr>
      <vt:lpstr>Aktivitätsdiagramm - Entscheidungen</vt:lpstr>
      <vt:lpstr>Aktivitätsdiagramm - Zusammenführungen</vt:lpstr>
      <vt:lpstr>Aktivitätsdiagram -  Verzweigungen</vt:lpstr>
      <vt:lpstr>Swimlanes für Akteure - Aktivitätsdiagramm</vt:lpstr>
      <vt:lpstr>Zustandsdiagramm (State Diagram)</vt:lpstr>
      <vt:lpstr>Zustände</vt:lpstr>
      <vt:lpstr>Zustandsdiagramm</vt:lpstr>
      <vt:lpstr>History-Zustände in UML-Zustandsdiagrammen</vt:lpstr>
      <vt:lpstr>Flacher History-Zustand (H)</vt:lpstr>
      <vt:lpstr>Tiefer History-Zustand (H*)</vt:lpstr>
      <vt:lpstr>Zustandsdiagramm</vt:lpstr>
      <vt:lpstr>Aufgabe</vt:lpstr>
      <vt:lpstr>Lösung</vt:lpstr>
      <vt:lpstr>Verteilungsdiagramm (Deployment Diagramm)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Lux</dc:creator>
  <cp:lastModifiedBy>Sebastian Gaus</cp:lastModifiedBy>
  <cp:revision>16</cp:revision>
  <dcterms:created xsi:type="dcterms:W3CDTF">2026-06-17T08:20:37Z</dcterms:created>
  <dcterms:modified xsi:type="dcterms:W3CDTF">2026-08-25T06:46:32Z</dcterms:modified>
</cp:coreProperties>
</file>